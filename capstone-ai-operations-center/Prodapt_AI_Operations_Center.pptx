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def7dc7-773f-3a51-447d-c4c2aaefe4df}">
          <p14:sldIdLst>
            <p14:sldId id="256"/>
            <p14:sldId id="257"/>
          </p14:sldIdLst>
        </p14:section>
        <p14:section name="The Solution" id="{0b2d077d-39be-e34f-9fc3-c3b1a074ce67}">
          <p14:sldIdLst>
            <p14:sldId id="258"/>
            <p14:sldId id="259"/>
            <p14:sldId id="260"/>
          </p14:sldIdLst>
        </p14:section>
        <p14:section name="Key Features" id="{0847d3e2-9c69-46f6-e3d7-464ecac0fb4f}">
          <p14:sldIdLst>
            <p14:sldId id="261"/>
            <p14:sldId id="262"/>
            <p14:sldId id="263"/>
            <p14:sldId id="264"/>
          </p14:sldIdLst>
        </p14:section>
        <p14:section name="Proof" id="{8dfb8777-100e-e26b-dbb4-af385c64e0e1}">
          <p14:sldIdLst>
            <p14:sldId id="265"/>
            <p14:sldId id="266"/>
          </p14:sldIdLst>
        </p14:section>
        <p14:section name="Close" id="{23c61b2f-31ee-c51d-45cc-52d566cf71c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going to show you an AI Operations Center that answers telecom customer and network inquiries in seconds, using real data, with every step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one customer inquiry means a human checking up to four separate systems and hand-writing a reply. Slow, inconsistent, and error-prone.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types a plain-English question. A supervisor decides which specialists are needed, they fetch real facts, and a communications crew writes one polished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 on top, LangGraph supervisor as the brain, three kinds of specialists beneath, SQLite as the single source of truth. Every worker returns to the supervisor, and CrewAI always runs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framework is there for a reason, not a checklist. LangGraph for control flow, LlamaIndex for retrieval, ADK and A2A for independent team-owned services, CrewAI for write-then-review, Streamlit for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PolicyRAG uses a local embedding model over six policy files. NetworkAnalytics picks the right table by meaning, writes the SQL, runs it and explains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telcos, NOC and Billing are separate teams. Each runs its own ADK service and publishes an agent card, so they can deploy and update independently. If a service is down, the graph returns the exact command to start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says credits up to fifty dollars apply automatically, larger ones need approval. This is enforced in tool code. The balance can never go below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CrewAI drafts then reviews. The Streamlit trace shows every agent step, so staff can audit exactly how the answer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was run end to end with real LLM calls and matched the expected values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in-memory data, answers come from tools and documents, graceful failure, tests across every layer, and a real bug that testing caught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Faster answers, fewer errors, full transparency, and a modular design that fits how real telecom teams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66928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66928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Prodapt AI Operations Center</a:t>
            </a:r>
            <a:endParaRPr lang="en-US" sz="4000" dirty="0"/>
          </a:p>
        </p:txBody>
      </p:sp>
      <p:sp>
        <p:nvSpPr>
          <p:cNvPr id="3" name="Text 1"/>
          <p:cNvSpPr txBox="1"/>
          <p:nvPr/>
        </p:nvSpPr>
        <p:spPr>
          <a:xfrm>
            <a:off x="548640" y="2834640"/>
            <a:ext cx="5303520" cy="822960"/>
          </a:xfrm>
          <a:prstGeom prst="rect">
            <a:avLst/>
          </a:prstGeom>
          <a:noFill/>
          <a:ln/>
        </p:spPr>
        <p:txBody>
          <a:bodyPr wrap="square" lIns="0" tIns="0" rIns="0" bIns="0" rtlCol="0" anchor="ctr"/>
          <a:lstStyle/>
          <a:p>
            <a:pPr indent="0" marL="0">
              <a:buNone/>
            </a:pPr>
            <a:r>
              <a:rPr lang="en-US" sz="2000" i="1" dirty="0">
                <a:solidFill>
                  <a:srgbClr val="2BD4A7"/>
                </a:solidFill>
                <a:latin typeface="Calibri" pitchFamily="34" charset="0"/>
                <a:ea typeface="Calibri" pitchFamily="34" charset="-122"/>
                <a:cs typeface="Calibri" pitchFamily="34" charset="-120"/>
              </a:rPr>
              <a:t>One question in. Four systems consulted. One accurate, reviewed answer out.</a:t>
            </a:r>
            <a:endParaRPr lang="en-US" sz="2000" dirty="0"/>
          </a:p>
        </p:txBody>
      </p:sp>
      <p:sp>
        <p:nvSpPr>
          <p:cNvPr id="4" name="Text 2"/>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Multi-agent AI for telecom customer and network operations</a:t>
            </a:r>
            <a:endParaRPr lang="en-US" sz="1400" dirty="0"/>
          </a:p>
        </p:txBody>
      </p:sp>
      <p:sp>
        <p:nvSpPr>
          <p:cNvPr id="5" name="Shape 3"/>
          <p:cNvSpPr/>
          <p:nvPr/>
        </p:nvSpPr>
        <p:spPr>
          <a:xfrm>
            <a:off x="6583680" y="1097280"/>
            <a:ext cx="2103120" cy="2103120"/>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7178040" y="1691640"/>
            <a:ext cx="914400" cy="914400"/>
          </a:xfrm>
          <a:prstGeom prst="rect">
            <a:avLst/>
          </a:prstGeom>
        </p:spPr>
      </p:pic>
      <p:sp>
        <p:nvSpPr>
          <p:cNvPr id="7" name="Text 4"/>
          <p:cNvSpPr txBox="1"/>
          <p:nvPr/>
        </p:nvSpPr>
        <p:spPr>
          <a:xfrm>
            <a:off x="6400800" y="3474720"/>
            <a:ext cx="2468880" cy="731520"/>
          </a:xfrm>
          <a:prstGeom prst="rect">
            <a:avLst/>
          </a:prstGeom>
          <a:noFill/>
          <a:ln/>
        </p:spPr>
        <p:txBody>
          <a:bodyPr wrap="square" lIns="0" tIns="0" rIns="0" bIns="0" rtlCol="0" anchor="ctr"/>
          <a:lstStyle/>
          <a:p>
            <a:pPr algn="ctr" indent="0" marL="0">
              <a:buNone/>
            </a:pPr>
            <a:r>
              <a:rPr lang="en-US" sz="1200" dirty="0">
                <a:solidFill>
                  <a:srgbClr val="EAF1F7"/>
                </a:solidFill>
                <a:latin typeface="Calibri" pitchFamily="34" charset="0"/>
                <a:ea typeface="Calibri" pitchFamily="34" charset="-122"/>
                <a:cs typeface="Calibri" pitchFamily="34" charset="-120"/>
              </a:rPr>
              <a:t>LangGraph · LlamaIndex · Google ADK · CrewAI · Streamlit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Every inquiry is a scavenger hunt</a:t>
            </a:r>
            <a:endParaRPr lang="en-US" sz="3000" dirty="0"/>
          </a:p>
        </p:txBody>
      </p:sp>
      <p:sp>
        <p:nvSpPr>
          <p:cNvPr id="4" name="stat0"/>
          <p:cNvSpPr/>
          <p:nvPr/>
        </p:nvSpPr>
        <p:spPr>
          <a:xfrm>
            <a:off x="457200" y="1371600"/>
            <a:ext cx="2606040" cy="2377440"/>
          </a:xfrm>
          <a:prstGeom prst="roundRect">
            <a:avLst>
              <a:gd name="adj" fmla="val 4615"/>
            </a:avLst>
          </a:prstGeom>
          <a:solidFill>
            <a:schemeClr val="bg2"/>
          </a:solidFill>
          <a:ln/>
        </p:spPr>
      </p:sp>
      <p:sp>
        <p:nvSpPr>
          <p:cNvPr id="5" name="Text 2"/>
          <p:cNvSpPr txBox="1"/>
          <p:nvPr/>
        </p:nvSpPr>
        <p:spPr>
          <a:xfrm>
            <a:off x="685800" y="1554480"/>
            <a:ext cx="2194560" cy="822960"/>
          </a:xfrm>
          <a:prstGeom prst="rect">
            <a:avLst/>
          </a:prstGeom>
          <a:noFill/>
          <a:ln/>
        </p:spPr>
        <p:txBody>
          <a:bodyPr wrap="square" lIns="0" tIns="0" rIns="0" bIns="0" rtlCol="0" anchor="ctr"/>
          <a:lstStyle/>
          <a:p>
            <a:pPr indent="0" marL="0">
              <a:buNone/>
            </a:pPr>
            <a:r>
              <a:rPr lang="en-US" sz="4800" b="1" dirty="0">
                <a:solidFill>
                  <a:srgbClr val="00857C"/>
                </a:solidFill>
                <a:latin typeface="Cambria" pitchFamily="34" charset="0"/>
                <a:ea typeface="Cambria" pitchFamily="34" charset="-122"/>
                <a:cs typeface="Cambria" pitchFamily="34" charset="-120"/>
              </a:rPr>
              <a:t>4</a:t>
            </a:r>
            <a:endParaRPr lang="en-US" sz="4800" dirty="0"/>
          </a:p>
        </p:txBody>
      </p:sp>
      <p:sp>
        <p:nvSpPr>
          <p:cNvPr id="6" name="Text 3"/>
          <p:cNvSpPr txBox="1"/>
          <p:nvPr/>
        </p:nvSpPr>
        <p:spPr>
          <a:xfrm>
            <a:off x="685800" y="2423160"/>
            <a:ext cx="2194560" cy="457200"/>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disconnected systems to check</a:t>
            </a:r>
            <a:endParaRPr lang="en-US" sz="1600" dirty="0"/>
          </a:p>
        </p:txBody>
      </p:sp>
      <p:sp>
        <p:nvSpPr>
          <p:cNvPr id="7" name="Text 4"/>
          <p:cNvSpPr txBox="1"/>
          <p:nvPr/>
        </p:nvSpPr>
        <p:spPr>
          <a:xfrm>
            <a:off x="685800" y="2926080"/>
            <a:ext cx="2194560" cy="64008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Policies, outage DB, NOC dashboards, billing</a:t>
            </a:r>
            <a:endParaRPr lang="en-US" sz="1400" dirty="0"/>
          </a:p>
        </p:txBody>
      </p:sp>
      <p:sp>
        <p:nvSpPr>
          <p:cNvPr id="8" name="stat1"/>
          <p:cNvSpPr/>
          <p:nvPr/>
        </p:nvSpPr>
        <p:spPr>
          <a:xfrm>
            <a:off x="3246120" y="1371600"/>
            <a:ext cx="2606040" cy="2377440"/>
          </a:xfrm>
          <a:prstGeom prst="roundRect">
            <a:avLst>
              <a:gd name="adj" fmla="val 4615"/>
            </a:avLst>
          </a:prstGeom>
          <a:solidFill>
            <a:schemeClr val="bg2"/>
          </a:solidFill>
          <a:ln/>
        </p:spPr>
      </p:sp>
      <p:sp>
        <p:nvSpPr>
          <p:cNvPr id="9" name="Text 6"/>
          <p:cNvSpPr txBox="1"/>
          <p:nvPr/>
        </p:nvSpPr>
        <p:spPr>
          <a:xfrm>
            <a:off x="3474720" y="1554480"/>
            <a:ext cx="2194560" cy="822960"/>
          </a:xfrm>
          <a:prstGeom prst="rect">
            <a:avLst/>
          </a:prstGeom>
          <a:noFill/>
          <a:ln/>
        </p:spPr>
        <p:txBody>
          <a:bodyPr wrap="square" lIns="0" tIns="0" rIns="0" bIns="0" rtlCol="0" anchor="ctr"/>
          <a:lstStyle/>
          <a:p>
            <a:pPr indent="0" marL="0">
              <a:buNone/>
            </a:pPr>
            <a:r>
              <a:rPr lang="en-US" sz="4800" b="1" dirty="0">
                <a:solidFill>
                  <a:srgbClr val="00857C"/>
                </a:solidFill>
                <a:latin typeface="Cambria" pitchFamily="34" charset="0"/>
                <a:ea typeface="Cambria" pitchFamily="34" charset="-122"/>
                <a:cs typeface="Cambria" pitchFamily="34" charset="-120"/>
              </a:rPr>
              <a:t>Manual</a:t>
            </a:r>
            <a:endParaRPr lang="en-US" sz="4800" dirty="0"/>
          </a:p>
        </p:txBody>
      </p:sp>
      <p:sp>
        <p:nvSpPr>
          <p:cNvPr id="10" name="Text 7"/>
          <p:cNvSpPr txBox="1"/>
          <p:nvPr/>
        </p:nvSpPr>
        <p:spPr>
          <a:xfrm>
            <a:off x="3474720" y="2423160"/>
            <a:ext cx="2194560" cy="457200"/>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copy, paste and rewrite</a:t>
            </a:r>
            <a:endParaRPr lang="en-US" sz="1600" dirty="0"/>
          </a:p>
        </p:txBody>
      </p:sp>
      <p:sp>
        <p:nvSpPr>
          <p:cNvPr id="11" name="Text 8"/>
          <p:cNvSpPr txBox="1"/>
          <p:nvPr/>
        </p:nvSpPr>
        <p:spPr>
          <a:xfrm>
            <a:off x="3474720" y="2926080"/>
            <a:ext cx="2194560" cy="64008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Every reply hand-written by an agent</a:t>
            </a:r>
            <a:endParaRPr lang="en-US" sz="1400" dirty="0"/>
          </a:p>
        </p:txBody>
      </p:sp>
      <p:sp>
        <p:nvSpPr>
          <p:cNvPr id="12" name="stat2"/>
          <p:cNvSpPr/>
          <p:nvPr/>
        </p:nvSpPr>
        <p:spPr>
          <a:xfrm>
            <a:off x="6035040" y="1371600"/>
            <a:ext cx="2606040" cy="2377440"/>
          </a:xfrm>
          <a:prstGeom prst="roundRect">
            <a:avLst>
              <a:gd name="adj" fmla="val 4615"/>
            </a:avLst>
          </a:prstGeom>
          <a:solidFill>
            <a:schemeClr val="bg2"/>
          </a:solidFill>
          <a:ln/>
        </p:spPr>
      </p:sp>
      <p:sp>
        <p:nvSpPr>
          <p:cNvPr id="13" name="Text 10"/>
          <p:cNvSpPr txBox="1"/>
          <p:nvPr/>
        </p:nvSpPr>
        <p:spPr>
          <a:xfrm>
            <a:off x="6263640" y="1554480"/>
            <a:ext cx="2194560" cy="822960"/>
          </a:xfrm>
          <a:prstGeom prst="rect">
            <a:avLst/>
          </a:prstGeom>
          <a:noFill/>
          <a:ln/>
        </p:spPr>
        <p:txBody>
          <a:bodyPr wrap="square" lIns="0" tIns="0" rIns="0" bIns="0" rtlCol="0" anchor="ctr"/>
          <a:lstStyle/>
          <a:p>
            <a:pPr indent="0" marL="0">
              <a:buNone/>
            </a:pPr>
            <a:r>
              <a:rPr lang="en-US" sz="4800" b="1" dirty="0">
                <a:solidFill>
                  <a:srgbClr val="00857C"/>
                </a:solidFill>
                <a:latin typeface="Cambria" pitchFamily="34" charset="0"/>
                <a:ea typeface="Cambria" pitchFamily="34" charset="-122"/>
                <a:cs typeface="Cambria" pitchFamily="34" charset="-120"/>
              </a:rPr>
              <a:t>Risky</a:t>
            </a:r>
            <a:endParaRPr lang="en-US" sz="4800" dirty="0"/>
          </a:p>
        </p:txBody>
      </p:sp>
      <p:sp>
        <p:nvSpPr>
          <p:cNvPr id="14" name="Text 11"/>
          <p:cNvSpPr txBox="1"/>
          <p:nvPr/>
        </p:nvSpPr>
        <p:spPr>
          <a:xfrm>
            <a:off x="6263640" y="2423160"/>
            <a:ext cx="2194560" cy="457200"/>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wrong answer, real cost</a:t>
            </a:r>
            <a:endParaRPr lang="en-US" sz="1600" dirty="0"/>
          </a:p>
        </p:txBody>
      </p:sp>
      <p:sp>
        <p:nvSpPr>
          <p:cNvPr id="15" name="Text 12"/>
          <p:cNvSpPr txBox="1"/>
          <p:nvPr/>
        </p:nvSpPr>
        <p:spPr>
          <a:xfrm>
            <a:off x="6263640" y="2926080"/>
            <a:ext cx="2194560" cy="64008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Credits promised that need approval</a:t>
            </a:r>
            <a:endParaRPr lang="en-US" sz="1400" dirty="0"/>
          </a:p>
        </p:txBody>
      </p:sp>
      <p:sp>
        <p:nvSpPr>
          <p:cNvPr id="16" name="Text 13"/>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2000" i="1" dirty="0">
                <a:solidFill>
                  <a:srgbClr val="12203F"/>
                </a:solidFill>
                <a:latin typeface="Calibri" pitchFamily="34" charset="0"/>
                <a:ea typeface="Calibri" pitchFamily="34" charset="-122"/>
                <a:cs typeface="Calibri" pitchFamily="34" charset="-120"/>
              </a:rPr>
              <a:t>Customers wait. Staff burn out. Mistakes slip through.</a:t>
            </a:r>
            <a:endParaRPr lang="en-US" sz="2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One chat box. A team of AI specialists</a:t>
            </a:r>
            <a:endParaRPr lang="en-US" sz="3000" dirty="0"/>
          </a:p>
        </p:txBody>
      </p:sp>
      <p:sp>
        <p:nvSpPr>
          <p:cNvPr id="4" name="Shape 1"/>
          <p:cNvSpPr/>
          <p:nvPr/>
        </p:nvSpPr>
        <p:spPr>
          <a:xfrm>
            <a:off x="731520" y="1554480"/>
            <a:ext cx="914400" cy="914400"/>
          </a:xfrm>
          <a:prstGeom prst="ellipse">
            <a:avLst/>
          </a:prstGeom>
          <a:solidFill>
            <a:srgbClr val="00857C"/>
          </a:solidFill>
          <a:ln/>
        </p:spPr>
      </p:sp>
      <p:pic>
        <p:nvPicPr>
          <p:cNvPr id="5" name="Image 0" descr="preencoded.png">    </p:cNvPr>
          <p:cNvPicPr>
            <a:picLocks noChangeAspect="1"/>
          </p:cNvPicPr>
          <p:nvPr/>
        </p:nvPicPr>
        <p:blipFill>
          <a:blip r:embed="rId1"/>
          <a:stretch>
            <a:fillRect/>
          </a:stretch>
        </p:blipFill>
        <p:spPr>
          <a:xfrm>
            <a:off x="960120" y="1783080"/>
            <a:ext cx="457200" cy="457200"/>
          </a:xfrm>
          <a:prstGeom prst="rect">
            <a:avLst/>
          </a:prstGeom>
        </p:spPr>
      </p:pic>
      <p:sp>
        <p:nvSpPr>
          <p:cNvPr id="6" name="Text 2"/>
          <p:cNvSpPr txBox="1"/>
          <p:nvPr/>
        </p:nvSpPr>
        <p:spPr>
          <a:xfrm>
            <a:off x="457200" y="265176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Ask</a:t>
            </a:r>
            <a:endParaRPr lang="en-US" sz="1800" dirty="0"/>
          </a:p>
        </p:txBody>
      </p:sp>
      <p:sp>
        <p:nvSpPr>
          <p:cNvPr id="7" name="Text 3"/>
          <p:cNvSpPr txBox="1"/>
          <p:nvPr/>
        </p:nvSpPr>
        <p:spPr>
          <a:xfrm>
            <a:off x="457200" y="3063240"/>
            <a:ext cx="1463040" cy="64008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Plain-English inquiry</a:t>
            </a:r>
            <a:endParaRPr lang="en-US" sz="1300" dirty="0"/>
          </a:p>
        </p:txBody>
      </p:sp>
      <p:pic>
        <p:nvPicPr>
          <p:cNvPr id="8" name="Image 1" descr="preencoded.png">    </p:cNvPr>
          <p:cNvPicPr>
            <a:picLocks noChangeAspect="1"/>
          </p:cNvPicPr>
          <p:nvPr/>
        </p:nvPicPr>
        <p:blipFill>
          <a:blip r:embed="rId2"/>
          <a:stretch>
            <a:fillRect/>
          </a:stretch>
        </p:blipFill>
        <p:spPr>
          <a:xfrm>
            <a:off x="1874520" y="1874520"/>
            <a:ext cx="228600" cy="274320"/>
          </a:xfrm>
          <a:prstGeom prst="rect">
            <a:avLst/>
          </a:prstGeom>
        </p:spPr>
      </p:pic>
      <p:sp>
        <p:nvSpPr>
          <p:cNvPr id="9" name="Shape 4"/>
          <p:cNvSpPr/>
          <p:nvPr/>
        </p:nvSpPr>
        <p:spPr>
          <a:xfrm>
            <a:off x="2395728" y="1554480"/>
            <a:ext cx="914400" cy="914400"/>
          </a:xfrm>
          <a:prstGeom prst="ellipse">
            <a:avLst/>
          </a:prstGeom>
          <a:solidFill>
            <a:srgbClr val="00857C"/>
          </a:solidFill>
          <a:ln/>
        </p:spPr>
      </p:sp>
      <p:pic>
        <p:nvPicPr>
          <p:cNvPr id="10" name="Image 2" descr="preencoded.png">    </p:cNvPr>
          <p:cNvPicPr>
            <a:picLocks noChangeAspect="1"/>
          </p:cNvPicPr>
          <p:nvPr/>
        </p:nvPicPr>
        <p:blipFill>
          <a:blip r:embed="rId3"/>
          <a:stretch>
            <a:fillRect/>
          </a:stretch>
        </p:blipFill>
        <p:spPr>
          <a:xfrm>
            <a:off x="2624328" y="1783080"/>
            <a:ext cx="457200" cy="457200"/>
          </a:xfrm>
          <a:prstGeom prst="rect">
            <a:avLst/>
          </a:prstGeom>
        </p:spPr>
      </p:pic>
      <p:sp>
        <p:nvSpPr>
          <p:cNvPr id="11" name="Text 5"/>
          <p:cNvSpPr txBox="1"/>
          <p:nvPr/>
        </p:nvSpPr>
        <p:spPr>
          <a:xfrm>
            <a:off x="2121408" y="265176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Route</a:t>
            </a:r>
            <a:endParaRPr lang="en-US" sz="1800" dirty="0"/>
          </a:p>
        </p:txBody>
      </p:sp>
      <p:sp>
        <p:nvSpPr>
          <p:cNvPr id="12" name="Text 6"/>
          <p:cNvSpPr txBox="1"/>
          <p:nvPr/>
        </p:nvSpPr>
        <p:spPr>
          <a:xfrm>
            <a:off x="2121408" y="3063240"/>
            <a:ext cx="1463040" cy="64008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Supervisor picks specialists</a:t>
            </a:r>
            <a:endParaRPr lang="en-US" sz="1300" dirty="0"/>
          </a:p>
        </p:txBody>
      </p:sp>
      <p:pic>
        <p:nvPicPr>
          <p:cNvPr id="13" name="Image 3" descr="preencoded.png">    </p:cNvPr>
          <p:cNvPicPr>
            <a:picLocks noChangeAspect="1"/>
          </p:cNvPicPr>
          <p:nvPr/>
        </p:nvPicPr>
        <p:blipFill>
          <a:blip r:embed="rId4"/>
          <a:stretch>
            <a:fillRect/>
          </a:stretch>
        </p:blipFill>
        <p:spPr>
          <a:xfrm>
            <a:off x="3538728" y="1874520"/>
            <a:ext cx="228600" cy="274320"/>
          </a:xfrm>
          <a:prstGeom prst="rect">
            <a:avLst/>
          </a:prstGeom>
        </p:spPr>
      </p:pic>
      <p:sp>
        <p:nvSpPr>
          <p:cNvPr id="14" name="Shape 7"/>
          <p:cNvSpPr/>
          <p:nvPr/>
        </p:nvSpPr>
        <p:spPr>
          <a:xfrm>
            <a:off x="4059936" y="1554480"/>
            <a:ext cx="914400" cy="914400"/>
          </a:xfrm>
          <a:prstGeom prst="ellipse">
            <a:avLst/>
          </a:prstGeom>
          <a:solidFill>
            <a:srgbClr val="00857C"/>
          </a:solidFill>
          <a:ln/>
        </p:spPr>
      </p:sp>
      <p:pic>
        <p:nvPicPr>
          <p:cNvPr id="15" name="Image 4" descr="preencoded.png">    </p:cNvPr>
          <p:cNvPicPr>
            <a:picLocks noChangeAspect="1"/>
          </p:cNvPicPr>
          <p:nvPr/>
        </p:nvPicPr>
        <p:blipFill>
          <a:blip r:embed="rId5"/>
          <a:stretch>
            <a:fillRect/>
          </a:stretch>
        </p:blipFill>
        <p:spPr>
          <a:xfrm>
            <a:off x="4288536" y="1783080"/>
            <a:ext cx="457200" cy="457200"/>
          </a:xfrm>
          <a:prstGeom prst="rect">
            <a:avLst/>
          </a:prstGeom>
        </p:spPr>
      </p:pic>
      <p:sp>
        <p:nvSpPr>
          <p:cNvPr id="16" name="Text 8"/>
          <p:cNvSpPr txBox="1"/>
          <p:nvPr/>
        </p:nvSpPr>
        <p:spPr>
          <a:xfrm>
            <a:off x="3785616" y="265176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Fetch</a:t>
            </a:r>
            <a:endParaRPr lang="en-US" sz="1800" dirty="0"/>
          </a:p>
        </p:txBody>
      </p:sp>
      <p:sp>
        <p:nvSpPr>
          <p:cNvPr id="17" name="Text 9"/>
          <p:cNvSpPr txBox="1"/>
          <p:nvPr/>
        </p:nvSpPr>
        <p:spPr>
          <a:xfrm>
            <a:off x="3785616" y="3063240"/>
            <a:ext cx="1463040" cy="64008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Real data, not guesses</a:t>
            </a:r>
            <a:endParaRPr lang="en-US" sz="1300" dirty="0"/>
          </a:p>
        </p:txBody>
      </p:sp>
      <p:pic>
        <p:nvPicPr>
          <p:cNvPr id="18" name="Image 5" descr="preencoded.png">    </p:cNvPr>
          <p:cNvPicPr>
            <a:picLocks noChangeAspect="1"/>
          </p:cNvPicPr>
          <p:nvPr/>
        </p:nvPicPr>
        <p:blipFill>
          <a:blip r:embed="rId6"/>
          <a:stretch>
            <a:fillRect/>
          </a:stretch>
        </p:blipFill>
        <p:spPr>
          <a:xfrm>
            <a:off x="5202936" y="1874520"/>
            <a:ext cx="228600" cy="274320"/>
          </a:xfrm>
          <a:prstGeom prst="rect">
            <a:avLst/>
          </a:prstGeom>
        </p:spPr>
      </p:pic>
      <p:sp>
        <p:nvSpPr>
          <p:cNvPr id="19" name="Shape 10"/>
          <p:cNvSpPr/>
          <p:nvPr/>
        </p:nvSpPr>
        <p:spPr>
          <a:xfrm>
            <a:off x="5724144" y="1554480"/>
            <a:ext cx="914400" cy="914400"/>
          </a:xfrm>
          <a:prstGeom prst="ellipse">
            <a:avLst/>
          </a:prstGeom>
          <a:solidFill>
            <a:srgbClr val="00857C"/>
          </a:solidFill>
          <a:ln/>
        </p:spPr>
      </p:sp>
      <p:pic>
        <p:nvPicPr>
          <p:cNvPr id="20" name="Image 6" descr="preencoded.png">    </p:cNvPr>
          <p:cNvPicPr>
            <a:picLocks noChangeAspect="1"/>
          </p:cNvPicPr>
          <p:nvPr/>
        </p:nvPicPr>
        <p:blipFill>
          <a:blip r:embed="rId7"/>
          <a:stretch>
            <a:fillRect/>
          </a:stretch>
        </p:blipFill>
        <p:spPr>
          <a:xfrm>
            <a:off x="5952744" y="1783080"/>
            <a:ext cx="457200" cy="457200"/>
          </a:xfrm>
          <a:prstGeom prst="rect">
            <a:avLst/>
          </a:prstGeom>
        </p:spPr>
      </p:pic>
      <p:sp>
        <p:nvSpPr>
          <p:cNvPr id="21" name="Text 11"/>
          <p:cNvSpPr txBox="1"/>
          <p:nvPr/>
        </p:nvSpPr>
        <p:spPr>
          <a:xfrm>
            <a:off x="5449824" y="265176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Write</a:t>
            </a:r>
            <a:endParaRPr lang="en-US" sz="1800" dirty="0"/>
          </a:p>
        </p:txBody>
      </p:sp>
      <p:sp>
        <p:nvSpPr>
          <p:cNvPr id="22" name="Text 12"/>
          <p:cNvSpPr txBox="1"/>
          <p:nvPr/>
        </p:nvSpPr>
        <p:spPr>
          <a:xfrm>
            <a:off x="5449824" y="3063240"/>
            <a:ext cx="1463040" cy="64008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Draft plus quality review</a:t>
            </a:r>
            <a:endParaRPr lang="en-US" sz="1300" dirty="0"/>
          </a:p>
        </p:txBody>
      </p:sp>
      <p:pic>
        <p:nvPicPr>
          <p:cNvPr id="23" name="Image 7" descr="preencoded.png">    </p:cNvPr>
          <p:cNvPicPr>
            <a:picLocks noChangeAspect="1"/>
          </p:cNvPicPr>
          <p:nvPr/>
        </p:nvPicPr>
        <p:blipFill>
          <a:blip r:embed="rId8"/>
          <a:stretch>
            <a:fillRect/>
          </a:stretch>
        </p:blipFill>
        <p:spPr>
          <a:xfrm>
            <a:off x="6867144" y="1874520"/>
            <a:ext cx="228600" cy="274320"/>
          </a:xfrm>
          <a:prstGeom prst="rect">
            <a:avLst/>
          </a:prstGeom>
        </p:spPr>
      </p:pic>
      <p:sp>
        <p:nvSpPr>
          <p:cNvPr id="24" name="Shape 13"/>
          <p:cNvSpPr/>
          <p:nvPr/>
        </p:nvSpPr>
        <p:spPr>
          <a:xfrm>
            <a:off x="7388352" y="1554480"/>
            <a:ext cx="914400" cy="914400"/>
          </a:xfrm>
          <a:prstGeom prst="ellipse">
            <a:avLst/>
          </a:prstGeom>
          <a:solidFill>
            <a:srgbClr val="00857C"/>
          </a:solidFill>
          <a:ln/>
        </p:spPr>
      </p:sp>
      <p:pic>
        <p:nvPicPr>
          <p:cNvPr id="25" name="Image 8" descr="preencoded.png">    </p:cNvPr>
          <p:cNvPicPr>
            <a:picLocks noChangeAspect="1"/>
          </p:cNvPicPr>
          <p:nvPr/>
        </p:nvPicPr>
        <p:blipFill>
          <a:blip r:embed="rId9"/>
          <a:stretch>
            <a:fillRect/>
          </a:stretch>
        </p:blipFill>
        <p:spPr>
          <a:xfrm>
            <a:off x="7616952" y="1783080"/>
            <a:ext cx="457200" cy="457200"/>
          </a:xfrm>
          <a:prstGeom prst="rect">
            <a:avLst/>
          </a:prstGeom>
        </p:spPr>
      </p:pic>
      <p:sp>
        <p:nvSpPr>
          <p:cNvPr id="26" name="Text 14"/>
          <p:cNvSpPr txBox="1"/>
          <p:nvPr/>
        </p:nvSpPr>
        <p:spPr>
          <a:xfrm>
            <a:off x="7114032" y="2651760"/>
            <a:ext cx="14630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27" name="Text 15"/>
          <p:cNvSpPr txBox="1"/>
          <p:nvPr/>
        </p:nvSpPr>
        <p:spPr>
          <a:xfrm>
            <a:off x="7114032" y="3063240"/>
            <a:ext cx="1463040" cy="64008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Accurate reply and trace</a:t>
            </a:r>
            <a:endParaRPr lang="en-US" sz="1300" dirty="0"/>
          </a:p>
        </p:txBody>
      </p:sp>
      <p:sp>
        <p:nvSpPr>
          <p:cNvPr id="28" name="Text 16"/>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600" i="1" dirty="0">
                <a:solidFill>
                  <a:srgbClr val="2BD4A7"/>
                </a:solidFill>
                <a:latin typeface="Calibri" pitchFamily="34" charset="0"/>
                <a:ea typeface="Calibri" pitchFamily="34" charset="-122"/>
                <a:cs typeface="Calibri" pitchFamily="34" charset="-120"/>
              </a:rPr>
              <a:t>Every step is visible in a live Agent Execution Trace.</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Architecture at a glance</a:t>
            </a:r>
            <a:endParaRPr lang="en-US" sz="3000" dirty="0"/>
          </a:p>
        </p:txBody>
      </p:sp>
      <p:sp>
        <p:nvSpPr>
          <p:cNvPr id="4" name="arch"/>
          <p:cNvSpPr/>
          <p:nvPr/>
        </p:nvSpPr>
        <p:spPr>
          <a:xfrm>
            <a:off x="457200" y="1280160"/>
            <a:ext cx="8229600" cy="548640"/>
          </a:xfrm>
          <a:prstGeom prst="roundRect">
            <a:avLst>
              <a:gd name="adj" fmla="val 20000"/>
            </a:avLst>
          </a:prstGeom>
          <a:solidFill>
            <a:schemeClr val="tx2"/>
          </a:solidFill>
          <a:ln/>
        </p:spPr>
      </p:sp>
      <p:sp>
        <p:nvSpPr>
          <p:cNvPr id="5" name="Text 2"/>
          <p:cNvSpPr txBox="1"/>
          <p:nvPr/>
        </p:nvSpPr>
        <p:spPr>
          <a:xfrm>
            <a:off x="548640" y="1280160"/>
            <a:ext cx="80467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Streamlit UI: inquiry box, live status, execution trace</a:t>
            </a:r>
            <a:endParaRPr lang="en-US" sz="1400" dirty="0"/>
          </a:p>
        </p:txBody>
      </p:sp>
      <p:sp>
        <p:nvSpPr>
          <p:cNvPr id="6" name="arch"/>
          <p:cNvSpPr/>
          <p:nvPr/>
        </p:nvSpPr>
        <p:spPr>
          <a:xfrm>
            <a:off x="457200" y="2011680"/>
            <a:ext cx="8229600" cy="548640"/>
          </a:xfrm>
          <a:prstGeom prst="roundRect">
            <a:avLst>
              <a:gd name="adj" fmla="val 20000"/>
            </a:avLst>
          </a:prstGeom>
          <a:solidFill>
            <a:schemeClr val="accent1"/>
          </a:solidFill>
          <a:ln/>
        </p:spPr>
      </p:sp>
      <p:sp>
        <p:nvSpPr>
          <p:cNvPr id="7" name="Text 4"/>
          <p:cNvSpPr txBox="1"/>
          <p:nvPr/>
        </p:nvSpPr>
        <p:spPr>
          <a:xfrm>
            <a:off x="548640" y="2011680"/>
            <a:ext cx="80467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LangGraph Supervisor: LLM routing with code-enforced guardrails</a:t>
            </a:r>
            <a:endParaRPr lang="en-US" sz="1400" dirty="0"/>
          </a:p>
        </p:txBody>
      </p:sp>
      <p:sp>
        <p:nvSpPr>
          <p:cNvPr id="8" name="arch"/>
          <p:cNvSpPr/>
          <p:nvPr/>
        </p:nvSpPr>
        <p:spPr>
          <a:xfrm>
            <a:off x="457200" y="2743200"/>
            <a:ext cx="2560320" cy="914400"/>
          </a:xfrm>
          <a:prstGeom prst="roundRect">
            <a:avLst>
              <a:gd name="adj" fmla="val 12000"/>
            </a:avLst>
          </a:prstGeom>
          <a:solidFill>
            <a:schemeClr val="bg2"/>
          </a:solidFill>
          <a:ln/>
        </p:spPr>
      </p:sp>
      <p:sp>
        <p:nvSpPr>
          <p:cNvPr id="9" name="Text 6"/>
          <p:cNvSpPr txBox="1"/>
          <p:nvPr/>
        </p:nvSpPr>
        <p:spPr>
          <a:xfrm>
            <a:off x="548640" y="2743200"/>
            <a:ext cx="2377440" cy="914400"/>
          </a:xfrm>
          <a:prstGeom prst="rect">
            <a:avLst/>
          </a:prstGeom>
          <a:noFill/>
          <a:ln/>
        </p:spPr>
        <p:txBody>
          <a:bodyPr wrap="square" lIns="0" tIns="0" rIns="0" bIns="0" rtlCol="0" anchor="ctr"/>
          <a:lstStyle/>
          <a:p>
            <a:pPr algn="ctr" indent="0" marL="0">
              <a:buNone/>
            </a:pPr>
            <a:r>
              <a:rPr lang="en-US" sz="1400" b="1" dirty="0">
                <a:solidFill>
                  <a:srgbClr val="12203F"/>
                </a:solidFill>
                <a:latin typeface="Calibri" pitchFamily="34" charset="0"/>
                <a:ea typeface="Calibri" pitchFamily="34" charset="-122"/>
                <a:cs typeface="Calibri" pitchFamily="34" charset="-120"/>
              </a:rPr>
              <a:t>LlamaIndex</a:t>
            </a:r>
            <a:endParaRPr lang="en-US" sz="1400" dirty="0"/>
          </a:p>
          <a:p>
            <a:pPr algn="ctr" indent="0" marL="0">
              <a:buNone/>
            </a:pPr>
            <a:r>
              <a:rPr lang="en-US" sz="1400" b="1" dirty="0">
                <a:solidFill>
                  <a:srgbClr val="12203F"/>
                </a:solidFill>
                <a:latin typeface="Calibri" pitchFamily="34" charset="0"/>
                <a:ea typeface="Calibri" pitchFamily="34" charset="-122"/>
                <a:cs typeface="Calibri" pitchFamily="34" charset="-120"/>
              </a:rPr>
              <a:t>Policy RAG + Text-to-SQL</a:t>
            </a:r>
            <a:endParaRPr lang="en-US" sz="1400" dirty="0"/>
          </a:p>
        </p:txBody>
      </p:sp>
      <p:sp>
        <p:nvSpPr>
          <p:cNvPr id="10" name="arch"/>
          <p:cNvSpPr/>
          <p:nvPr/>
        </p:nvSpPr>
        <p:spPr>
          <a:xfrm>
            <a:off x="3291840" y="2743200"/>
            <a:ext cx="2560320" cy="914400"/>
          </a:xfrm>
          <a:prstGeom prst="roundRect">
            <a:avLst>
              <a:gd name="adj" fmla="val 12000"/>
            </a:avLst>
          </a:prstGeom>
          <a:solidFill>
            <a:schemeClr val="bg2"/>
          </a:solidFill>
          <a:ln/>
        </p:spPr>
      </p:sp>
      <p:sp>
        <p:nvSpPr>
          <p:cNvPr id="11" name="Text 8"/>
          <p:cNvSpPr txBox="1"/>
          <p:nvPr/>
        </p:nvSpPr>
        <p:spPr>
          <a:xfrm>
            <a:off x="3383280" y="2743200"/>
            <a:ext cx="2377440" cy="914400"/>
          </a:xfrm>
          <a:prstGeom prst="rect">
            <a:avLst/>
          </a:prstGeom>
          <a:noFill/>
          <a:ln/>
        </p:spPr>
        <p:txBody>
          <a:bodyPr wrap="square" lIns="0" tIns="0" rIns="0" bIns="0" rtlCol="0" anchor="ctr"/>
          <a:lstStyle/>
          <a:p>
            <a:pPr algn="ctr" indent="0" marL="0">
              <a:buNone/>
            </a:pPr>
            <a:r>
              <a:rPr lang="en-US" sz="1400" b="1" dirty="0">
                <a:solidFill>
                  <a:srgbClr val="12203F"/>
                </a:solidFill>
                <a:latin typeface="Calibri" pitchFamily="34" charset="0"/>
                <a:ea typeface="Calibri" pitchFamily="34" charset="-122"/>
                <a:cs typeface="Calibri" pitchFamily="34" charset="-120"/>
              </a:rPr>
              <a:t>Google ADK + A2A</a:t>
            </a:r>
            <a:endParaRPr lang="en-US" sz="1400" dirty="0"/>
          </a:p>
          <a:p>
            <a:pPr algn="ctr" indent="0" marL="0">
              <a:buNone/>
            </a:pPr>
            <a:r>
              <a:rPr lang="en-US" sz="1400" b="1" dirty="0">
                <a:solidFill>
                  <a:srgbClr val="12203F"/>
                </a:solidFill>
                <a:latin typeface="Calibri" pitchFamily="34" charset="0"/>
                <a:ea typeface="Calibri" pitchFamily="34" charset="-122"/>
                <a:cs typeface="Calibri" pitchFamily="34" charset="-120"/>
              </a:rPr>
              <a:t>Network :8001 · Billing :8002</a:t>
            </a:r>
            <a:endParaRPr lang="en-US" sz="1400" dirty="0"/>
          </a:p>
        </p:txBody>
      </p:sp>
      <p:sp>
        <p:nvSpPr>
          <p:cNvPr id="12" name="arch"/>
          <p:cNvSpPr/>
          <p:nvPr/>
        </p:nvSpPr>
        <p:spPr>
          <a:xfrm>
            <a:off x="6126480" y="2743200"/>
            <a:ext cx="2560320" cy="914400"/>
          </a:xfrm>
          <a:prstGeom prst="roundRect">
            <a:avLst>
              <a:gd name="adj" fmla="val 12000"/>
            </a:avLst>
          </a:prstGeom>
          <a:solidFill>
            <a:schemeClr val="bg2"/>
          </a:solidFill>
          <a:ln/>
        </p:spPr>
      </p:sp>
      <p:sp>
        <p:nvSpPr>
          <p:cNvPr id="13" name="Text 10"/>
          <p:cNvSpPr txBox="1"/>
          <p:nvPr/>
        </p:nvSpPr>
        <p:spPr>
          <a:xfrm>
            <a:off x="6217920" y="2743200"/>
            <a:ext cx="2377440" cy="914400"/>
          </a:xfrm>
          <a:prstGeom prst="rect">
            <a:avLst/>
          </a:prstGeom>
          <a:noFill/>
          <a:ln/>
        </p:spPr>
        <p:txBody>
          <a:bodyPr wrap="square" lIns="0" tIns="0" rIns="0" bIns="0" rtlCol="0" anchor="ctr"/>
          <a:lstStyle/>
          <a:p>
            <a:pPr algn="ctr" indent="0" marL="0">
              <a:buNone/>
            </a:pPr>
            <a:r>
              <a:rPr lang="en-US" sz="1400" b="1" dirty="0">
                <a:solidFill>
                  <a:srgbClr val="12203F"/>
                </a:solidFill>
                <a:latin typeface="Calibri" pitchFamily="34" charset="0"/>
                <a:ea typeface="Calibri" pitchFamily="34" charset="-122"/>
                <a:cs typeface="Calibri" pitchFamily="34" charset="-120"/>
              </a:rPr>
              <a:t>CrewAI</a:t>
            </a:r>
            <a:endParaRPr lang="en-US" sz="1400" dirty="0"/>
          </a:p>
          <a:p>
            <a:pPr algn="ctr" indent="0" marL="0">
              <a:buNone/>
            </a:pPr>
            <a:r>
              <a:rPr lang="en-US" sz="1400" b="1" dirty="0">
                <a:solidFill>
                  <a:srgbClr val="12203F"/>
                </a:solidFill>
                <a:latin typeface="Calibri" pitchFamily="34" charset="0"/>
                <a:ea typeface="Calibri" pitchFamily="34" charset="-122"/>
                <a:cs typeface="Calibri" pitchFamily="34" charset="-120"/>
              </a:rPr>
              <a:t>Writer + Quality Reviewer</a:t>
            </a:r>
            <a:endParaRPr lang="en-US" sz="1400" dirty="0"/>
          </a:p>
        </p:txBody>
      </p:sp>
      <p:sp>
        <p:nvSpPr>
          <p:cNvPr id="14" name="arch"/>
          <p:cNvSpPr/>
          <p:nvPr/>
        </p:nvSpPr>
        <p:spPr>
          <a:xfrm>
            <a:off x="457200" y="3886200"/>
            <a:ext cx="8229600" cy="548640"/>
          </a:xfrm>
          <a:prstGeom prst="roundRect">
            <a:avLst>
              <a:gd name="adj" fmla="val 20000"/>
            </a:avLst>
          </a:prstGeom>
          <a:solidFill>
            <a:schemeClr val="accent5"/>
          </a:solidFill>
          <a:ln/>
        </p:spPr>
      </p:sp>
      <p:sp>
        <p:nvSpPr>
          <p:cNvPr id="15" name="Text 12"/>
          <p:cNvSpPr txBox="1"/>
          <p:nvPr/>
        </p:nvSpPr>
        <p:spPr>
          <a:xfrm>
            <a:off x="548640" y="3886200"/>
            <a:ext cx="80467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SQLite telecom_ops.db (9 tables) · 6 policy documents · vector index</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Best-in-class tool for every job</a:t>
            </a:r>
            <a:endParaRPr lang="en-US" sz="3000" dirty="0"/>
          </a:p>
        </p:txBody>
      </p:sp>
      <p:sp>
        <p:nvSpPr>
          <p:cNvPr id="4" name="fw0"/>
          <p:cNvSpPr/>
          <p:nvPr/>
        </p:nvSpPr>
        <p:spPr>
          <a:xfrm>
            <a:off x="457200" y="1371600"/>
            <a:ext cx="2606040" cy="1463040"/>
          </a:xfrm>
          <a:prstGeom prst="roundRect">
            <a:avLst>
              <a:gd name="adj" fmla="val 7500"/>
            </a:avLst>
          </a:prstGeom>
          <a:solidFill>
            <a:schemeClr val="tx1"/>
          </a:solidFill>
          <a:ln/>
        </p:spPr>
      </p:sp>
      <p:sp>
        <p:nvSpPr>
          <p:cNvPr id="5" name="Shape 2"/>
          <p:cNvSpPr/>
          <p:nvPr/>
        </p:nvSpPr>
        <p:spPr>
          <a:xfrm>
            <a:off x="640080" y="1554480"/>
            <a:ext cx="548640" cy="548640"/>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777240" y="1691640"/>
            <a:ext cx="274320" cy="274320"/>
          </a:xfrm>
          <a:prstGeom prst="rect">
            <a:avLst/>
          </a:prstGeom>
        </p:spPr>
      </p:pic>
      <p:sp>
        <p:nvSpPr>
          <p:cNvPr id="7" name="Text 3"/>
          <p:cNvSpPr txBox="1"/>
          <p:nvPr/>
        </p:nvSpPr>
        <p:spPr>
          <a:xfrm>
            <a:off x="1325880" y="155448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LangGraph</a:t>
            </a:r>
            <a:endParaRPr lang="en-US" sz="1600" dirty="0"/>
          </a:p>
        </p:txBody>
      </p:sp>
      <p:sp>
        <p:nvSpPr>
          <p:cNvPr id="8" name="Text 4"/>
          <p:cNvSpPr txBox="1"/>
          <p:nvPr/>
        </p:nvSpPr>
        <p:spPr>
          <a:xfrm>
            <a:off x="640080" y="2240280"/>
            <a:ext cx="2286000" cy="45720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Supervisor loop with shared state</a:t>
            </a:r>
            <a:endParaRPr lang="en-US" sz="1400" dirty="0"/>
          </a:p>
        </p:txBody>
      </p:sp>
      <p:sp>
        <p:nvSpPr>
          <p:cNvPr id="9" name="fw1"/>
          <p:cNvSpPr/>
          <p:nvPr/>
        </p:nvSpPr>
        <p:spPr>
          <a:xfrm>
            <a:off x="3246120" y="1371600"/>
            <a:ext cx="2606040" cy="1463040"/>
          </a:xfrm>
          <a:prstGeom prst="roundRect">
            <a:avLst>
              <a:gd name="adj" fmla="val 7500"/>
            </a:avLst>
          </a:prstGeom>
          <a:solidFill>
            <a:schemeClr val="tx1"/>
          </a:solidFill>
          <a:ln/>
        </p:spPr>
      </p:sp>
      <p:sp>
        <p:nvSpPr>
          <p:cNvPr id="10" name="Shape 6"/>
          <p:cNvSpPr/>
          <p:nvPr/>
        </p:nvSpPr>
        <p:spPr>
          <a:xfrm>
            <a:off x="3429000" y="1554480"/>
            <a:ext cx="548640" cy="548640"/>
          </a:xfrm>
          <a:prstGeom prst="ellipse">
            <a:avLst/>
          </a:prstGeom>
          <a:solidFill>
            <a:srgbClr val="00857C"/>
          </a:solidFill>
          <a:ln/>
        </p:spPr>
      </p:sp>
      <p:pic>
        <p:nvPicPr>
          <p:cNvPr id="11" name="Image 1" descr="preencoded.png">    </p:cNvPr>
          <p:cNvPicPr>
            <a:picLocks noChangeAspect="1"/>
          </p:cNvPicPr>
          <p:nvPr/>
        </p:nvPicPr>
        <p:blipFill>
          <a:blip r:embed="rId2"/>
          <a:stretch>
            <a:fillRect/>
          </a:stretch>
        </p:blipFill>
        <p:spPr>
          <a:xfrm>
            <a:off x="3566160" y="1691640"/>
            <a:ext cx="274320" cy="274320"/>
          </a:xfrm>
          <a:prstGeom prst="rect">
            <a:avLst/>
          </a:prstGeom>
        </p:spPr>
      </p:pic>
      <p:sp>
        <p:nvSpPr>
          <p:cNvPr id="12" name="Text 7"/>
          <p:cNvSpPr txBox="1"/>
          <p:nvPr/>
        </p:nvSpPr>
        <p:spPr>
          <a:xfrm>
            <a:off x="4114800" y="155448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LlamaIndex</a:t>
            </a:r>
            <a:endParaRPr lang="en-US" sz="1600" dirty="0"/>
          </a:p>
        </p:txBody>
      </p:sp>
      <p:sp>
        <p:nvSpPr>
          <p:cNvPr id="13" name="Text 8"/>
          <p:cNvSpPr txBox="1"/>
          <p:nvPr/>
        </p:nvSpPr>
        <p:spPr>
          <a:xfrm>
            <a:off x="3429000" y="2240280"/>
            <a:ext cx="2286000" cy="45720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Retrieval and semantic SQL only</a:t>
            </a:r>
            <a:endParaRPr lang="en-US" sz="1400" dirty="0"/>
          </a:p>
        </p:txBody>
      </p:sp>
      <p:sp>
        <p:nvSpPr>
          <p:cNvPr id="14" name="fw2"/>
          <p:cNvSpPr/>
          <p:nvPr/>
        </p:nvSpPr>
        <p:spPr>
          <a:xfrm>
            <a:off x="6035040" y="1371600"/>
            <a:ext cx="2606040" cy="1463040"/>
          </a:xfrm>
          <a:prstGeom prst="roundRect">
            <a:avLst>
              <a:gd name="adj" fmla="val 7500"/>
            </a:avLst>
          </a:prstGeom>
          <a:solidFill>
            <a:schemeClr val="tx1"/>
          </a:solidFill>
          <a:ln/>
        </p:spPr>
      </p:sp>
      <p:sp>
        <p:nvSpPr>
          <p:cNvPr id="15" name="Shape 10"/>
          <p:cNvSpPr/>
          <p:nvPr/>
        </p:nvSpPr>
        <p:spPr>
          <a:xfrm>
            <a:off x="6217920" y="1554480"/>
            <a:ext cx="548640" cy="548640"/>
          </a:xfrm>
          <a:prstGeom prst="ellipse">
            <a:avLst/>
          </a:prstGeom>
          <a:solidFill>
            <a:srgbClr val="00857C"/>
          </a:solidFill>
          <a:ln/>
        </p:spPr>
      </p:sp>
      <p:pic>
        <p:nvPicPr>
          <p:cNvPr id="16" name="Image 2" descr="preencoded.png">    </p:cNvPr>
          <p:cNvPicPr>
            <a:picLocks noChangeAspect="1"/>
          </p:cNvPicPr>
          <p:nvPr/>
        </p:nvPicPr>
        <p:blipFill>
          <a:blip r:embed="rId3"/>
          <a:stretch>
            <a:fillRect/>
          </a:stretch>
        </p:blipFill>
        <p:spPr>
          <a:xfrm>
            <a:off x="6355080" y="1691640"/>
            <a:ext cx="274320" cy="274320"/>
          </a:xfrm>
          <a:prstGeom prst="rect">
            <a:avLst/>
          </a:prstGeom>
        </p:spPr>
      </p:pic>
      <p:sp>
        <p:nvSpPr>
          <p:cNvPr id="17" name="Text 11"/>
          <p:cNvSpPr txBox="1"/>
          <p:nvPr/>
        </p:nvSpPr>
        <p:spPr>
          <a:xfrm>
            <a:off x="6903720" y="155448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Google ADK + A2A</a:t>
            </a:r>
            <a:endParaRPr lang="en-US" sz="1600" dirty="0"/>
          </a:p>
        </p:txBody>
      </p:sp>
      <p:sp>
        <p:nvSpPr>
          <p:cNvPr id="18" name="Text 12"/>
          <p:cNvSpPr txBox="1"/>
          <p:nvPr/>
        </p:nvSpPr>
        <p:spPr>
          <a:xfrm>
            <a:off x="6217920" y="2240280"/>
            <a:ext cx="2286000" cy="45720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Independently deployable agents</a:t>
            </a:r>
            <a:endParaRPr lang="en-US" sz="1400" dirty="0"/>
          </a:p>
        </p:txBody>
      </p:sp>
      <p:sp>
        <p:nvSpPr>
          <p:cNvPr id="19" name="fw3"/>
          <p:cNvSpPr/>
          <p:nvPr/>
        </p:nvSpPr>
        <p:spPr>
          <a:xfrm>
            <a:off x="457200" y="3063240"/>
            <a:ext cx="2606040" cy="1463040"/>
          </a:xfrm>
          <a:prstGeom prst="roundRect">
            <a:avLst>
              <a:gd name="adj" fmla="val 7500"/>
            </a:avLst>
          </a:prstGeom>
          <a:solidFill>
            <a:schemeClr val="tx1"/>
          </a:solidFill>
          <a:ln/>
        </p:spPr>
      </p:sp>
      <p:sp>
        <p:nvSpPr>
          <p:cNvPr id="20" name="Shape 14"/>
          <p:cNvSpPr/>
          <p:nvPr/>
        </p:nvSpPr>
        <p:spPr>
          <a:xfrm>
            <a:off x="640080" y="3246120"/>
            <a:ext cx="548640" cy="548640"/>
          </a:xfrm>
          <a:prstGeom prst="ellipse">
            <a:avLst/>
          </a:prstGeom>
          <a:solidFill>
            <a:srgbClr val="00857C"/>
          </a:solidFill>
          <a:ln/>
        </p:spPr>
      </p:sp>
      <p:pic>
        <p:nvPicPr>
          <p:cNvPr id="21" name="Image 3" descr="preencoded.png">    </p:cNvPr>
          <p:cNvPicPr>
            <a:picLocks noChangeAspect="1"/>
          </p:cNvPicPr>
          <p:nvPr/>
        </p:nvPicPr>
        <p:blipFill>
          <a:blip r:embed="rId4"/>
          <a:stretch>
            <a:fillRect/>
          </a:stretch>
        </p:blipFill>
        <p:spPr>
          <a:xfrm>
            <a:off x="777240" y="3383280"/>
            <a:ext cx="274320" cy="274320"/>
          </a:xfrm>
          <a:prstGeom prst="rect">
            <a:avLst/>
          </a:prstGeom>
        </p:spPr>
      </p:pic>
      <p:sp>
        <p:nvSpPr>
          <p:cNvPr id="22" name="Text 15"/>
          <p:cNvSpPr txBox="1"/>
          <p:nvPr/>
        </p:nvSpPr>
        <p:spPr>
          <a:xfrm>
            <a:off x="1325880" y="324612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CrewAI</a:t>
            </a:r>
            <a:endParaRPr lang="en-US" sz="1600" dirty="0"/>
          </a:p>
        </p:txBody>
      </p:sp>
      <p:sp>
        <p:nvSpPr>
          <p:cNvPr id="23" name="Text 16"/>
          <p:cNvSpPr txBox="1"/>
          <p:nvPr/>
        </p:nvSpPr>
        <p:spPr>
          <a:xfrm>
            <a:off x="640080" y="3931920"/>
            <a:ext cx="2286000" cy="45720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Draft, then review, then send</a:t>
            </a:r>
            <a:endParaRPr lang="en-US" sz="1400" dirty="0"/>
          </a:p>
        </p:txBody>
      </p:sp>
      <p:sp>
        <p:nvSpPr>
          <p:cNvPr id="24" name="fw4"/>
          <p:cNvSpPr/>
          <p:nvPr/>
        </p:nvSpPr>
        <p:spPr>
          <a:xfrm>
            <a:off x="3246120" y="3063240"/>
            <a:ext cx="2606040" cy="1463040"/>
          </a:xfrm>
          <a:prstGeom prst="roundRect">
            <a:avLst>
              <a:gd name="adj" fmla="val 7500"/>
            </a:avLst>
          </a:prstGeom>
          <a:solidFill>
            <a:schemeClr val="tx1"/>
          </a:solidFill>
          <a:ln/>
        </p:spPr>
      </p:sp>
      <p:sp>
        <p:nvSpPr>
          <p:cNvPr id="25" name="Shape 18"/>
          <p:cNvSpPr/>
          <p:nvPr/>
        </p:nvSpPr>
        <p:spPr>
          <a:xfrm>
            <a:off x="3429000" y="3246120"/>
            <a:ext cx="548640" cy="548640"/>
          </a:xfrm>
          <a:prstGeom prst="ellipse">
            <a:avLst/>
          </a:prstGeom>
          <a:solidFill>
            <a:srgbClr val="00857C"/>
          </a:solidFill>
          <a:ln/>
        </p:spPr>
      </p:sp>
      <p:pic>
        <p:nvPicPr>
          <p:cNvPr id="26" name="Image 4" descr="preencoded.png">    </p:cNvPr>
          <p:cNvPicPr>
            <a:picLocks noChangeAspect="1"/>
          </p:cNvPicPr>
          <p:nvPr/>
        </p:nvPicPr>
        <p:blipFill>
          <a:blip r:embed="rId5"/>
          <a:stretch>
            <a:fillRect/>
          </a:stretch>
        </p:blipFill>
        <p:spPr>
          <a:xfrm>
            <a:off x="3566160" y="3383280"/>
            <a:ext cx="274320" cy="274320"/>
          </a:xfrm>
          <a:prstGeom prst="rect">
            <a:avLst/>
          </a:prstGeom>
        </p:spPr>
      </p:pic>
      <p:sp>
        <p:nvSpPr>
          <p:cNvPr id="27" name="Text 19"/>
          <p:cNvSpPr txBox="1"/>
          <p:nvPr/>
        </p:nvSpPr>
        <p:spPr>
          <a:xfrm>
            <a:off x="4114800" y="324612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Streamlit</a:t>
            </a:r>
            <a:endParaRPr lang="en-US" sz="1600" dirty="0"/>
          </a:p>
        </p:txBody>
      </p:sp>
      <p:sp>
        <p:nvSpPr>
          <p:cNvPr id="28" name="Text 20"/>
          <p:cNvSpPr txBox="1"/>
          <p:nvPr/>
        </p:nvSpPr>
        <p:spPr>
          <a:xfrm>
            <a:off x="3429000" y="3931920"/>
            <a:ext cx="2286000" cy="45720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Real UI with live health checks</a:t>
            </a:r>
            <a:endParaRPr lang="en-US" sz="1400" dirty="0"/>
          </a:p>
        </p:txBody>
      </p:sp>
      <p:sp>
        <p:nvSpPr>
          <p:cNvPr id="29" name="provider"/>
          <p:cNvSpPr/>
          <p:nvPr/>
        </p:nvSpPr>
        <p:spPr>
          <a:xfrm>
            <a:off x="6035040" y="3063240"/>
            <a:ext cx="2651760" cy="1463040"/>
          </a:xfrm>
          <a:prstGeom prst="roundRect">
            <a:avLst>
              <a:gd name="adj" fmla="val 7500"/>
            </a:avLst>
          </a:prstGeom>
          <a:solidFill>
            <a:schemeClr val="accent1"/>
          </a:solidFill>
          <a:ln/>
        </p:spPr>
      </p:sp>
      <p:sp>
        <p:nvSpPr>
          <p:cNvPr id="30" name="Text 22"/>
          <p:cNvSpPr txBox="1"/>
          <p:nvPr/>
        </p:nvSpPr>
        <p:spPr>
          <a:xfrm>
            <a:off x="6217920" y="3200400"/>
            <a:ext cx="22860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One switch</a:t>
            </a:r>
            <a:endParaRPr lang="en-US" sz="1800" dirty="0"/>
          </a:p>
        </p:txBody>
      </p:sp>
      <p:sp>
        <p:nvSpPr>
          <p:cNvPr id="31" name="Text 23"/>
          <p:cNvSpPr txBox="1"/>
          <p:nvPr/>
        </p:nvSpPr>
        <p:spPr>
          <a:xfrm>
            <a:off x="6217920" y="3611880"/>
            <a:ext cx="22860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LLM_PROVIDER moves the whole stack between Claude and OpenAI.</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Feature 1: Answers grounded in your data</a:t>
            </a:r>
            <a:endParaRPr lang="en-US" sz="3000" dirty="0"/>
          </a:p>
        </p:txBody>
      </p:sp>
      <p:sp>
        <p:nvSpPr>
          <p:cNvPr id="4" name="rag"/>
          <p:cNvSpPr/>
          <p:nvPr/>
        </p:nvSpPr>
        <p:spPr>
          <a:xfrm>
            <a:off x="457200" y="1280160"/>
            <a:ext cx="4023360" cy="3108960"/>
          </a:xfrm>
          <a:prstGeom prst="roundRect">
            <a:avLst>
              <a:gd name="adj" fmla="val 3529"/>
            </a:avLst>
          </a:prstGeom>
          <a:solidFill>
            <a:schemeClr val="bg2"/>
          </a:solidFill>
          <a:ln/>
        </p:spPr>
      </p:sp>
      <p:sp>
        <p:nvSpPr>
          <p:cNvPr id="5" name="sql"/>
          <p:cNvSpPr/>
          <p:nvPr/>
        </p:nvSpPr>
        <p:spPr>
          <a:xfrm>
            <a:off x="4663440" y="1280160"/>
            <a:ext cx="4023360" cy="3108960"/>
          </a:xfrm>
          <a:prstGeom prst="roundRect">
            <a:avLst>
              <a:gd name="adj" fmla="val 3529"/>
            </a:avLst>
          </a:prstGeom>
          <a:solidFill>
            <a:schemeClr val="bg2"/>
          </a:solidFill>
          <a:ln/>
        </p:spPr>
      </p:sp>
      <p:sp>
        <p:nvSpPr>
          <p:cNvPr id="6" name="Shape 3"/>
          <p:cNvSpPr/>
          <p:nvPr/>
        </p:nvSpPr>
        <p:spPr>
          <a:xfrm>
            <a:off x="685800" y="1463040"/>
            <a:ext cx="640080" cy="640080"/>
          </a:xfrm>
          <a:prstGeom prst="ellipse">
            <a:avLst/>
          </a:prstGeom>
          <a:solidFill>
            <a:srgbClr val="00857C"/>
          </a:solidFill>
          <a:ln/>
        </p:spPr>
      </p:sp>
      <p:pic>
        <p:nvPicPr>
          <p:cNvPr id="7" name="Image 0" descr="preencoded.png">    </p:cNvPr>
          <p:cNvPicPr>
            <a:picLocks noChangeAspect="1"/>
          </p:cNvPicPr>
          <p:nvPr/>
        </p:nvPicPr>
        <p:blipFill>
          <a:blip r:embed="rId1"/>
          <a:stretch>
            <a:fillRect/>
          </a:stretch>
        </p:blipFill>
        <p:spPr>
          <a:xfrm>
            <a:off x="845820" y="1623060"/>
            <a:ext cx="320040" cy="320040"/>
          </a:xfrm>
          <a:prstGeom prst="rect">
            <a:avLst/>
          </a:prstGeom>
        </p:spPr>
      </p:pic>
      <p:sp>
        <p:nvSpPr>
          <p:cNvPr id="8" name="Shape 4"/>
          <p:cNvSpPr/>
          <p:nvPr/>
        </p:nvSpPr>
        <p:spPr>
          <a:xfrm>
            <a:off x="4892040" y="1463040"/>
            <a:ext cx="640080" cy="640080"/>
          </a:xfrm>
          <a:prstGeom prst="ellipse">
            <a:avLst/>
          </a:prstGeom>
          <a:solidFill>
            <a:srgbClr val="00857C"/>
          </a:solidFill>
          <a:ln/>
        </p:spPr>
      </p:sp>
      <p:pic>
        <p:nvPicPr>
          <p:cNvPr id="9" name="Image 1" descr="preencoded.png">    </p:cNvPr>
          <p:cNvPicPr>
            <a:picLocks noChangeAspect="1"/>
          </p:cNvPicPr>
          <p:nvPr/>
        </p:nvPicPr>
        <p:blipFill>
          <a:blip r:embed="rId2"/>
          <a:stretch>
            <a:fillRect/>
          </a:stretch>
        </p:blipFill>
        <p:spPr>
          <a:xfrm>
            <a:off x="5052060" y="1623060"/>
            <a:ext cx="320040" cy="320040"/>
          </a:xfrm>
          <a:prstGeom prst="rect">
            <a:avLst/>
          </a:prstGeom>
        </p:spPr>
      </p:pic>
      <p:sp>
        <p:nvSpPr>
          <p:cNvPr id="10" name="Text 5"/>
          <p:cNvSpPr txBox="1"/>
          <p:nvPr/>
        </p:nvSpPr>
        <p:spPr>
          <a:xfrm>
            <a:off x="1508760" y="1463040"/>
            <a:ext cx="2743200" cy="640080"/>
          </a:xfrm>
          <a:prstGeom prst="rect">
            <a:avLst/>
          </a:prstGeom>
          <a:noFill/>
          <a:ln/>
        </p:spPr>
        <p:txBody>
          <a:bodyPr wrap="square" lIns="0" tIns="0" rIns="0" bIns="0" rtlCol="0" anchor="ctr"/>
          <a:lstStyle/>
          <a:p>
            <a:pPr indent="0" marL="0">
              <a:buNone/>
            </a:pPr>
            <a:r>
              <a:rPr lang="en-US" sz="2000" b="1" dirty="0">
                <a:solidFill>
                  <a:srgbClr val="12203F"/>
                </a:solidFill>
                <a:latin typeface="Calibri" pitchFamily="34" charset="0"/>
                <a:ea typeface="Calibri" pitchFamily="34" charset="-122"/>
                <a:cs typeface="Calibri" pitchFamily="34" charset="-120"/>
              </a:rPr>
              <a:t>Policy RAG</a:t>
            </a:r>
            <a:endParaRPr lang="en-US" sz="2000" dirty="0"/>
          </a:p>
        </p:txBody>
      </p:sp>
      <p:sp>
        <p:nvSpPr>
          <p:cNvPr id="11" name="Text 6"/>
          <p:cNvSpPr txBox="1"/>
          <p:nvPr/>
        </p:nvSpPr>
        <p:spPr>
          <a:xfrm>
            <a:off x="5715000" y="1463040"/>
            <a:ext cx="2834640" cy="640080"/>
          </a:xfrm>
          <a:prstGeom prst="rect">
            <a:avLst/>
          </a:prstGeom>
          <a:noFill/>
          <a:ln/>
        </p:spPr>
        <p:txBody>
          <a:bodyPr wrap="square" lIns="0" tIns="0" rIns="0" bIns="0" rtlCol="0" anchor="ctr"/>
          <a:lstStyle/>
          <a:p>
            <a:pPr indent="0" marL="0">
              <a:buNone/>
            </a:pPr>
            <a:r>
              <a:rPr lang="en-US" sz="2000" b="1" dirty="0">
                <a:solidFill>
                  <a:srgbClr val="12203F"/>
                </a:solidFill>
                <a:latin typeface="Calibri" pitchFamily="34" charset="0"/>
                <a:ea typeface="Calibri" pitchFamily="34" charset="-122"/>
                <a:cs typeface="Calibri" pitchFamily="34" charset="-120"/>
              </a:rPr>
              <a:t>Text-to-SQL Analytics</a:t>
            </a:r>
            <a:endParaRPr lang="en-US" sz="2000" dirty="0"/>
          </a:p>
        </p:txBody>
      </p:sp>
      <p:sp>
        <p:nvSpPr>
          <p:cNvPr id="12" name="Text 7"/>
          <p:cNvSpPr txBox="1"/>
          <p:nvPr/>
        </p:nvSpPr>
        <p:spPr>
          <a:xfrm>
            <a:off x="685800" y="2331720"/>
            <a:ext cx="3611880" cy="19202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Searches 6 policy documents</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Local embeddings, no extra API key</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Index built once, loaded instantly</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Example: Travel Pass roaming at $10/day</a:t>
            </a:r>
            <a:endParaRPr lang="en-US" sz="1400" dirty="0"/>
          </a:p>
        </p:txBody>
      </p:sp>
      <p:sp>
        <p:nvSpPr>
          <p:cNvPr id="13" name="Text 8"/>
          <p:cNvSpPr txBox="1"/>
          <p:nvPr/>
        </p:nvSpPr>
        <p:spPr>
          <a:xfrm>
            <a:off x="4892040" y="2331720"/>
            <a:ext cx="3611880" cy="19202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Ask the database in plain English</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Picks the right table by meaning</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Writes and runs real SQL</a:t>
            </a:r>
            <a:endParaRPr lang="en-US" sz="1400" dirty="0"/>
          </a:p>
          <a:p>
            <a:pPr marL="342900" indent="-342900">
              <a:spcAft>
                <a:spcPts val="600"/>
              </a:spcAft>
              <a:buSzPct val="100000"/>
              <a:buChar char="•"/>
            </a:pPr>
            <a:r>
              <a:rPr lang="en-US" sz="1400" dirty="0">
                <a:solidFill>
                  <a:srgbClr val="12203F"/>
                </a:solidFill>
                <a:latin typeface="Calibri" pitchFamily="34" charset="0"/>
                <a:ea typeface="Calibri" pitchFamily="34" charset="-122"/>
                <a:cs typeface="Calibri" pitchFamily="34" charset="-120"/>
              </a:rPr>
              <a:t>Example: Midwest had 6 CRITICAL outages</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Feature 2: Independent agents over A2A</a:t>
            </a:r>
            <a:endParaRPr lang="en-US" sz="3000" dirty="0"/>
          </a:p>
        </p:txBody>
      </p:sp>
      <p:sp>
        <p:nvSpPr>
          <p:cNvPr id="4" name="svc0"/>
          <p:cNvSpPr/>
          <p:nvPr/>
        </p:nvSpPr>
        <p:spPr>
          <a:xfrm>
            <a:off x="457200" y="1280160"/>
            <a:ext cx="4023360" cy="2514600"/>
          </a:xfrm>
          <a:prstGeom prst="roundRect">
            <a:avLst>
              <a:gd name="adj" fmla="val 4364"/>
            </a:avLst>
          </a:prstGeom>
          <a:solidFill>
            <a:schemeClr val="tx1"/>
          </a:solidFill>
          <a:ln/>
        </p:spPr>
      </p:sp>
      <p:sp>
        <p:nvSpPr>
          <p:cNvPr id="5" name="Shape 2"/>
          <p:cNvSpPr/>
          <p:nvPr/>
        </p:nvSpPr>
        <p:spPr>
          <a:xfrm>
            <a:off x="685800" y="1463040"/>
            <a:ext cx="640080" cy="640080"/>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845820" y="1623060"/>
            <a:ext cx="320040" cy="320040"/>
          </a:xfrm>
          <a:prstGeom prst="rect">
            <a:avLst/>
          </a:prstGeom>
        </p:spPr>
      </p:pic>
      <p:sp>
        <p:nvSpPr>
          <p:cNvPr id="7" name="Text 3"/>
          <p:cNvSpPr txBox="1"/>
          <p:nvPr/>
        </p:nvSpPr>
        <p:spPr>
          <a:xfrm>
            <a:off x="1508760" y="1463040"/>
            <a:ext cx="2743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Network Diagnostics</a:t>
            </a:r>
            <a:endParaRPr lang="en-US" sz="2000" dirty="0"/>
          </a:p>
        </p:txBody>
      </p:sp>
      <p:sp>
        <p:nvSpPr>
          <p:cNvPr id="8" name="Text 4"/>
          <p:cNvSpPr txBox="1"/>
          <p:nvPr/>
        </p:nvSpPr>
        <p:spPr>
          <a:xfrm>
            <a:off x="1508760" y="1874520"/>
            <a:ext cx="2743200" cy="274320"/>
          </a:xfrm>
          <a:prstGeom prst="rect">
            <a:avLst/>
          </a:prstGeom>
          <a:noFill/>
          <a:ln/>
        </p:spPr>
        <p:txBody>
          <a:bodyPr wrap="square" lIns="0" tIns="0" rIns="0" bIns="0" rtlCol="0" anchor="ctr"/>
          <a:lstStyle/>
          <a:p>
            <a:pPr indent="0" marL="0">
              <a:buNone/>
            </a:pPr>
            <a:r>
              <a:rPr lang="en-US" sz="1400" dirty="0">
                <a:solidFill>
                  <a:srgbClr val="2BD4A7"/>
                </a:solidFill>
                <a:latin typeface="Calibri" pitchFamily="34" charset="0"/>
                <a:ea typeface="Calibri" pitchFamily="34" charset="-122"/>
                <a:cs typeface="Calibri" pitchFamily="34" charset="-120"/>
              </a:rPr>
              <a:t>Port 8001</a:t>
            </a:r>
            <a:endParaRPr lang="en-US" sz="1400" dirty="0"/>
          </a:p>
        </p:txBody>
      </p:sp>
      <p:sp>
        <p:nvSpPr>
          <p:cNvPr id="9" name="Text 5"/>
          <p:cNvSpPr txBox="1"/>
          <p:nvPr/>
        </p:nvSpPr>
        <p:spPr>
          <a:xfrm>
            <a:off x="731520" y="2423160"/>
            <a:ext cx="3566160" cy="1280160"/>
          </a:xfrm>
          <a:prstGeom prst="rect">
            <a:avLst/>
          </a:prstGeom>
          <a:noFill/>
          <a:ln/>
        </p:spPr>
        <p:txBody>
          <a:bodyPr wrap="square" lIns="0" tIns="0" rIns="0" bIns="0" rtlCol="0" anchor="ctr"/>
          <a:lstStyle/>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Latest tower sample, never an average</a:t>
            </a:r>
            <a:endParaRPr lang="en-US" sz="1400" dirty="0"/>
          </a:p>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Applies signal, loss, latency thresholds</a:t>
            </a:r>
            <a:endParaRPr lang="en-US" sz="1400" dirty="0"/>
          </a:p>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Links open incidents (INC-8841)</a:t>
            </a:r>
            <a:endParaRPr lang="en-US" sz="1400" dirty="0"/>
          </a:p>
        </p:txBody>
      </p:sp>
      <p:sp>
        <p:nvSpPr>
          <p:cNvPr id="10" name="svc1"/>
          <p:cNvSpPr/>
          <p:nvPr/>
        </p:nvSpPr>
        <p:spPr>
          <a:xfrm>
            <a:off x="4663440" y="1280160"/>
            <a:ext cx="4023360" cy="2514600"/>
          </a:xfrm>
          <a:prstGeom prst="roundRect">
            <a:avLst>
              <a:gd name="adj" fmla="val 4364"/>
            </a:avLst>
          </a:prstGeom>
          <a:solidFill>
            <a:schemeClr val="tx1"/>
          </a:solidFill>
          <a:ln/>
        </p:spPr>
      </p:sp>
      <p:sp>
        <p:nvSpPr>
          <p:cNvPr id="11" name="Shape 7"/>
          <p:cNvSpPr/>
          <p:nvPr/>
        </p:nvSpPr>
        <p:spPr>
          <a:xfrm>
            <a:off x="4892040" y="1463040"/>
            <a:ext cx="640080" cy="640080"/>
          </a:xfrm>
          <a:prstGeom prst="ellipse">
            <a:avLst/>
          </a:prstGeom>
          <a:solidFill>
            <a:srgbClr val="00857C"/>
          </a:solidFill>
          <a:ln/>
        </p:spPr>
      </p:sp>
      <p:pic>
        <p:nvPicPr>
          <p:cNvPr id="12" name="Image 1" descr="preencoded.png">    </p:cNvPr>
          <p:cNvPicPr>
            <a:picLocks noChangeAspect="1"/>
          </p:cNvPicPr>
          <p:nvPr/>
        </p:nvPicPr>
        <p:blipFill>
          <a:blip r:embed="rId2"/>
          <a:stretch>
            <a:fillRect/>
          </a:stretch>
        </p:blipFill>
        <p:spPr>
          <a:xfrm>
            <a:off x="5052060" y="1623060"/>
            <a:ext cx="320040" cy="320040"/>
          </a:xfrm>
          <a:prstGeom prst="rect">
            <a:avLst/>
          </a:prstGeom>
        </p:spPr>
      </p:pic>
      <p:sp>
        <p:nvSpPr>
          <p:cNvPr id="13" name="Text 8"/>
          <p:cNvSpPr txBox="1"/>
          <p:nvPr/>
        </p:nvSpPr>
        <p:spPr>
          <a:xfrm>
            <a:off x="5715000" y="1463040"/>
            <a:ext cx="27432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Billing Resolution</a:t>
            </a:r>
            <a:endParaRPr lang="en-US" sz="2000" dirty="0"/>
          </a:p>
        </p:txBody>
      </p:sp>
      <p:sp>
        <p:nvSpPr>
          <p:cNvPr id="14" name="Text 9"/>
          <p:cNvSpPr txBox="1"/>
          <p:nvPr/>
        </p:nvSpPr>
        <p:spPr>
          <a:xfrm>
            <a:off x="5715000" y="1874520"/>
            <a:ext cx="2743200" cy="274320"/>
          </a:xfrm>
          <a:prstGeom prst="rect">
            <a:avLst/>
          </a:prstGeom>
          <a:noFill/>
          <a:ln/>
        </p:spPr>
        <p:txBody>
          <a:bodyPr wrap="square" lIns="0" tIns="0" rIns="0" bIns="0" rtlCol="0" anchor="ctr"/>
          <a:lstStyle/>
          <a:p>
            <a:pPr indent="0" marL="0">
              <a:buNone/>
            </a:pPr>
            <a:r>
              <a:rPr lang="en-US" sz="1400" dirty="0">
                <a:solidFill>
                  <a:srgbClr val="2BD4A7"/>
                </a:solidFill>
                <a:latin typeface="Calibri" pitchFamily="34" charset="0"/>
                <a:ea typeface="Calibri" pitchFamily="34" charset="-122"/>
                <a:cs typeface="Calibri" pitchFamily="34" charset="-120"/>
              </a:rPr>
              <a:t>Port 8002</a:t>
            </a:r>
            <a:endParaRPr lang="en-US" sz="1400" dirty="0"/>
          </a:p>
        </p:txBody>
      </p:sp>
      <p:sp>
        <p:nvSpPr>
          <p:cNvPr id="15" name="Text 10"/>
          <p:cNvSpPr txBox="1"/>
          <p:nvPr/>
        </p:nvSpPr>
        <p:spPr>
          <a:xfrm>
            <a:off x="4937760" y="2423160"/>
            <a:ext cx="3566160" cy="1280160"/>
          </a:xfrm>
          <a:prstGeom prst="rect">
            <a:avLst/>
          </a:prstGeom>
          <a:noFill/>
          <a:ln/>
        </p:spPr>
        <p:txBody>
          <a:bodyPr wrap="square" lIns="0" tIns="0" rIns="0" bIns="0" rtlCol="0" anchor="ctr"/>
          <a:lstStyle/>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Looks up account and open charges</a:t>
            </a:r>
            <a:endParaRPr lang="en-US" sz="1400" dirty="0"/>
          </a:p>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Detects duplicate charges</a:t>
            </a:r>
            <a:endParaRPr lang="en-US" sz="1400" dirty="0"/>
          </a:p>
          <a:p>
            <a:pPr marL="342900" indent="-342900">
              <a:spcAft>
                <a:spcPts val="500"/>
              </a:spcAft>
              <a:buSzPct val="100000"/>
              <a:buChar char="•"/>
            </a:pPr>
            <a:r>
              <a:rPr lang="en-US" sz="1400" dirty="0">
                <a:solidFill>
                  <a:srgbClr val="EAF1F7"/>
                </a:solidFill>
                <a:latin typeface="Calibri" pitchFamily="34" charset="0"/>
                <a:ea typeface="Calibri" pitchFamily="34" charset="-122"/>
                <a:cs typeface="Calibri" pitchFamily="34" charset="-120"/>
              </a:rPr>
              <a:t>Applies or escalates credits</a:t>
            </a:r>
            <a:endParaRPr lang="en-US" sz="1400" dirty="0"/>
          </a:p>
        </p:txBody>
      </p:sp>
      <p:sp>
        <p:nvSpPr>
          <p:cNvPr id="16" name="Text 11"/>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600" i="1" dirty="0">
                <a:solidFill>
                  <a:srgbClr val="2BD4A7"/>
                </a:solidFill>
                <a:latin typeface="Calibri" pitchFamily="34" charset="0"/>
                <a:ea typeface="Calibri" pitchFamily="34" charset="-122"/>
                <a:cs typeface="Calibri" pitchFamily="34" charset="-120"/>
              </a:rPr>
              <a:t>Deploy and update each team's agent without touching the others.</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Feature 3: Rules the AI cannot break</a:t>
            </a:r>
            <a:endParaRPr lang="en-US" sz="3000" dirty="0"/>
          </a:p>
        </p:txBody>
      </p:sp>
      <p:sp>
        <p:nvSpPr>
          <p:cNvPr id="4" name="applied"/>
          <p:cNvSpPr/>
          <p:nvPr/>
        </p:nvSpPr>
        <p:spPr>
          <a:xfrm>
            <a:off x="457200" y="1280160"/>
            <a:ext cx="4023360" cy="2286000"/>
          </a:xfrm>
          <a:prstGeom prst="roundRect">
            <a:avLst>
              <a:gd name="adj" fmla="val 4800"/>
            </a:avLst>
          </a:prstGeom>
          <a:solidFill>
            <a:schemeClr val="accent1"/>
          </a:solidFill>
          <a:ln/>
        </p:spPr>
      </p:sp>
      <p:sp>
        <p:nvSpPr>
          <p:cNvPr id="5" name="pending"/>
          <p:cNvSpPr/>
          <p:nvPr/>
        </p:nvSpPr>
        <p:spPr>
          <a:xfrm>
            <a:off x="4663440" y="1280160"/>
            <a:ext cx="4023360" cy="2286000"/>
          </a:xfrm>
          <a:prstGeom prst="roundRect">
            <a:avLst>
              <a:gd name="adj" fmla="val 4800"/>
            </a:avLst>
          </a:prstGeom>
          <a:solidFill>
            <a:schemeClr val="tx2"/>
          </a:solidFill>
          <a:ln/>
        </p:spPr>
      </p:sp>
      <p:sp>
        <p:nvSpPr>
          <p:cNvPr id="6" name="Text 3"/>
          <p:cNvSpPr txBox="1"/>
          <p:nvPr/>
        </p:nvSpPr>
        <p:spPr>
          <a:xfrm>
            <a:off x="731520" y="1463040"/>
            <a:ext cx="34747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$50 or less</a:t>
            </a:r>
            <a:endParaRPr lang="en-US" sz="1600" dirty="0"/>
          </a:p>
        </p:txBody>
      </p:sp>
      <p:sp>
        <p:nvSpPr>
          <p:cNvPr id="7" name="Text 4"/>
          <p:cNvSpPr txBox="1"/>
          <p:nvPr/>
        </p:nvSpPr>
        <p:spPr>
          <a:xfrm>
            <a:off x="731520" y="1874520"/>
            <a:ext cx="3474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APPLIED</a:t>
            </a:r>
            <a:endParaRPr lang="en-US" sz="4000" dirty="0"/>
          </a:p>
        </p:txBody>
      </p:sp>
      <p:sp>
        <p:nvSpPr>
          <p:cNvPr id="8" name="Text 5"/>
          <p:cNvSpPr txBox="1"/>
          <p:nvPr/>
        </p:nvSpPr>
        <p:spPr>
          <a:xfrm>
            <a:off x="731520" y="2743200"/>
            <a:ext cx="34747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Balance reduced immediately. The $50 boundary is inclusive.</a:t>
            </a:r>
            <a:endParaRPr lang="en-US" sz="1400" dirty="0"/>
          </a:p>
        </p:txBody>
      </p:sp>
      <p:sp>
        <p:nvSpPr>
          <p:cNvPr id="9" name="Text 6"/>
          <p:cNvSpPr txBox="1"/>
          <p:nvPr/>
        </p:nvSpPr>
        <p:spPr>
          <a:xfrm>
            <a:off x="4937760" y="1463040"/>
            <a:ext cx="34747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Over $50</a:t>
            </a:r>
            <a:endParaRPr lang="en-US" sz="1600" dirty="0"/>
          </a:p>
        </p:txBody>
      </p:sp>
      <p:sp>
        <p:nvSpPr>
          <p:cNvPr id="10" name="Text 7"/>
          <p:cNvSpPr txBox="1"/>
          <p:nvPr/>
        </p:nvSpPr>
        <p:spPr>
          <a:xfrm>
            <a:off x="4937760" y="1874520"/>
            <a:ext cx="3474720" cy="731520"/>
          </a:xfrm>
          <a:prstGeom prst="rect">
            <a:avLst/>
          </a:prstGeom>
          <a:noFill/>
          <a:ln/>
        </p:spPr>
        <p:txBody>
          <a:bodyPr wrap="square" lIns="0" tIns="0" rIns="0" bIns="0" rtlCol="0" anchor="ctr"/>
          <a:lstStyle/>
          <a:p>
            <a:pPr indent="0" marL="0">
              <a:buNone/>
            </a:pPr>
            <a:r>
              <a:rPr lang="en-US" sz="4000" b="1" dirty="0">
                <a:solidFill>
                  <a:srgbClr val="FFB020"/>
                </a:solidFill>
                <a:latin typeface="Cambria" pitchFamily="34" charset="0"/>
                <a:ea typeface="Cambria" pitchFamily="34" charset="-122"/>
                <a:cs typeface="Cambria" pitchFamily="34" charset="-120"/>
              </a:rPr>
              <a:t>PENDING</a:t>
            </a:r>
            <a:endParaRPr lang="en-US" sz="4000" dirty="0"/>
          </a:p>
        </p:txBody>
      </p:sp>
      <p:sp>
        <p:nvSpPr>
          <p:cNvPr id="11" name="Text 8"/>
          <p:cNvSpPr txBox="1"/>
          <p:nvPr/>
        </p:nvSpPr>
        <p:spPr>
          <a:xfrm>
            <a:off x="4937760" y="2743200"/>
            <a:ext cx="34747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Needs approval. Balance unchanged. Example: $65.99 on CUST-10002.</a:t>
            </a:r>
            <a:endParaRPr lang="en-US" sz="1400" dirty="0"/>
          </a:p>
        </p:txBody>
      </p:sp>
      <p:sp>
        <p:nvSpPr>
          <p:cNvPr id="12" name="Text 9"/>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600" i="1" dirty="0">
                <a:solidFill>
                  <a:srgbClr val="12203F"/>
                </a:solidFill>
                <a:latin typeface="Calibri" pitchFamily="34" charset="0"/>
                <a:ea typeface="Calibri" pitchFamily="34" charset="-122"/>
                <a:cs typeface="Calibri" pitchFamily="34" charset="-120"/>
              </a:rPr>
              <a:t>Plus: the Quality Reviewer blocks any reply that says a pending credit was applied.</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Feature 4: Polished replies, visible trace</a:t>
            </a:r>
            <a:endParaRPr lang="en-US" sz="3000" dirty="0"/>
          </a:p>
        </p:txBody>
      </p:sp>
      <p:sp>
        <p:nvSpPr>
          <p:cNvPr id="4" name="ft0"/>
          <p:cNvSpPr/>
          <p:nvPr/>
        </p:nvSpPr>
        <p:spPr>
          <a:xfrm>
            <a:off x="457200" y="1280160"/>
            <a:ext cx="4023360" cy="1463040"/>
          </a:xfrm>
          <a:prstGeom prst="roundRect">
            <a:avLst>
              <a:gd name="adj" fmla="val 7500"/>
            </a:avLst>
          </a:prstGeom>
          <a:solidFill>
            <a:schemeClr val="tx1"/>
          </a:solidFill>
          <a:ln/>
        </p:spPr>
      </p:sp>
      <p:sp>
        <p:nvSpPr>
          <p:cNvPr id="5" name="Shape 2"/>
          <p:cNvSpPr/>
          <p:nvPr/>
        </p:nvSpPr>
        <p:spPr>
          <a:xfrm>
            <a:off x="685800" y="1691640"/>
            <a:ext cx="640080" cy="640080"/>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845820" y="1851660"/>
            <a:ext cx="320040" cy="320040"/>
          </a:xfrm>
          <a:prstGeom prst="rect">
            <a:avLst/>
          </a:prstGeom>
        </p:spPr>
      </p:pic>
      <p:sp>
        <p:nvSpPr>
          <p:cNvPr id="7" name="Text 3"/>
          <p:cNvSpPr txBox="1"/>
          <p:nvPr/>
        </p:nvSpPr>
        <p:spPr>
          <a:xfrm>
            <a:off x="1554480" y="1508760"/>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Draft</a:t>
            </a:r>
            <a:endParaRPr lang="en-US" sz="1800" dirty="0"/>
          </a:p>
        </p:txBody>
      </p:sp>
      <p:sp>
        <p:nvSpPr>
          <p:cNvPr id="8" name="Text 4"/>
          <p:cNvSpPr txBox="1"/>
          <p:nvPr/>
        </p:nvSpPr>
        <p:spPr>
          <a:xfrm>
            <a:off x="1554480" y="1920240"/>
            <a:ext cx="2743200" cy="73152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Communications Specialist writes from verified findings</a:t>
            </a:r>
            <a:endParaRPr lang="en-US" sz="1400" dirty="0"/>
          </a:p>
        </p:txBody>
      </p:sp>
      <p:sp>
        <p:nvSpPr>
          <p:cNvPr id="9" name="ft1"/>
          <p:cNvSpPr/>
          <p:nvPr/>
        </p:nvSpPr>
        <p:spPr>
          <a:xfrm>
            <a:off x="4663440" y="1280160"/>
            <a:ext cx="4023360" cy="1463040"/>
          </a:xfrm>
          <a:prstGeom prst="roundRect">
            <a:avLst>
              <a:gd name="adj" fmla="val 7500"/>
            </a:avLst>
          </a:prstGeom>
          <a:solidFill>
            <a:schemeClr val="tx1"/>
          </a:solidFill>
          <a:ln/>
        </p:spPr>
      </p:sp>
      <p:sp>
        <p:nvSpPr>
          <p:cNvPr id="10" name="Shape 6"/>
          <p:cNvSpPr/>
          <p:nvPr/>
        </p:nvSpPr>
        <p:spPr>
          <a:xfrm>
            <a:off x="4892040" y="1691640"/>
            <a:ext cx="640080" cy="640080"/>
          </a:xfrm>
          <a:prstGeom prst="ellipse">
            <a:avLst/>
          </a:prstGeom>
          <a:solidFill>
            <a:srgbClr val="00857C"/>
          </a:solidFill>
          <a:ln/>
        </p:spPr>
      </p:sp>
      <p:pic>
        <p:nvPicPr>
          <p:cNvPr id="11" name="Image 1" descr="preencoded.png">    </p:cNvPr>
          <p:cNvPicPr>
            <a:picLocks noChangeAspect="1"/>
          </p:cNvPicPr>
          <p:nvPr/>
        </p:nvPicPr>
        <p:blipFill>
          <a:blip r:embed="rId2"/>
          <a:stretch>
            <a:fillRect/>
          </a:stretch>
        </p:blipFill>
        <p:spPr>
          <a:xfrm>
            <a:off x="5052060" y="1851660"/>
            <a:ext cx="320040" cy="320040"/>
          </a:xfrm>
          <a:prstGeom prst="rect">
            <a:avLst/>
          </a:prstGeom>
        </p:spPr>
      </p:pic>
      <p:sp>
        <p:nvSpPr>
          <p:cNvPr id="12" name="Text 7"/>
          <p:cNvSpPr txBox="1"/>
          <p:nvPr/>
        </p:nvSpPr>
        <p:spPr>
          <a:xfrm>
            <a:off x="5760720" y="1508760"/>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Review</a:t>
            </a:r>
            <a:endParaRPr lang="en-US" sz="1800" dirty="0"/>
          </a:p>
        </p:txBody>
      </p:sp>
      <p:sp>
        <p:nvSpPr>
          <p:cNvPr id="13" name="Text 8"/>
          <p:cNvSpPr txBox="1"/>
          <p:nvPr/>
        </p:nvSpPr>
        <p:spPr>
          <a:xfrm>
            <a:off x="5760720" y="1920240"/>
            <a:ext cx="2743200" cy="73152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Quality Reviewer checks facts, tone and policy</a:t>
            </a:r>
            <a:endParaRPr lang="en-US" sz="1400" dirty="0"/>
          </a:p>
        </p:txBody>
      </p:sp>
      <p:sp>
        <p:nvSpPr>
          <p:cNvPr id="14" name="ft2"/>
          <p:cNvSpPr/>
          <p:nvPr/>
        </p:nvSpPr>
        <p:spPr>
          <a:xfrm>
            <a:off x="457200" y="2926080"/>
            <a:ext cx="4023360" cy="1463040"/>
          </a:xfrm>
          <a:prstGeom prst="roundRect">
            <a:avLst>
              <a:gd name="adj" fmla="val 7500"/>
            </a:avLst>
          </a:prstGeom>
          <a:solidFill>
            <a:schemeClr val="tx1"/>
          </a:solidFill>
          <a:ln/>
        </p:spPr>
      </p:sp>
      <p:sp>
        <p:nvSpPr>
          <p:cNvPr id="15" name="Shape 10"/>
          <p:cNvSpPr/>
          <p:nvPr/>
        </p:nvSpPr>
        <p:spPr>
          <a:xfrm>
            <a:off x="685800" y="3337560"/>
            <a:ext cx="640080" cy="640080"/>
          </a:xfrm>
          <a:prstGeom prst="ellipse">
            <a:avLst/>
          </a:prstGeom>
          <a:solidFill>
            <a:srgbClr val="00857C"/>
          </a:solidFill>
          <a:ln/>
        </p:spPr>
      </p:sp>
      <p:pic>
        <p:nvPicPr>
          <p:cNvPr id="16" name="Image 2" descr="preencoded.png">    </p:cNvPr>
          <p:cNvPicPr>
            <a:picLocks noChangeAspect="1"/>
          </p:cNvPicPr>
          <p:nvPr/>
        </p:nvPicPr>
        <p:blipFill>
          <a:blip r:embed="rId3"/>
          <a:stretch>
            <a:fillRect/>
          </a:stretch>
        </p:blipFill>
        <p:spPr>
          <a:xfrm>
            <a:off x="845820" y="3497580"/>
            <a:ext cx="320040" cy="320040"/>
          </a:xfrm>
          <a:prstGeom prst="rect">
            <a:avLst/>
          </a:prstGeom>
        </p:spPr>
      </p:pic>
      <p:sp>
        <p:nvSpPr>
          <p:cNvPr id="17" name="Text 11"/>
          <p:cNvSpPr txBox="1"/>
          <p:nvPr/>
        </p:nvSpPr>
        <p:spPr>
          <a:xfrm>
            <a:off x="1554480" y="3154680"/>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Trace</a:t>
            </a:r>
            <a:endParaRPr lang="en-US" sz="1800" dirty="0"/>
          </a:p>
        </p:txBody>
      </p:sp>
      <p:sp>
        <p:nvSpPr>
          <p:cNvPr id="18" name="Text 12"/>
          <p:cNvSpPr txBox="1"/>
          <p:nvPr/>
        </p:nvSpPr>
        <p:spPr>
          <a:xfrm>
            <a:off x="1554480" y="3566160"/>
            <a:ext cx="2743200" cy="73152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Step-by-step view of every agent decision</a:t>
            </a:r>
            <a:endParaRPr lang="en-US" sz="1400" dirty="0"/>
          </a:p>
        </p:txBody>
      </p:sp>
      <p:sp>
        <p:nvSpPr>
          <p:cNvPr id="19" name="ft3"/>
          <p:cNvSpPr/>
          <p:nvPr/>
        </p:nvSpPr>
        <p:spPr>
          <a:xfrm>
            <a:off x="4663440" y="2926080"/>
            <a:ext cx="4023360" cy="1463040"/>
          </a:xfrm>
          <a:prstGeom prst="roundRect">
            <a:avLst>
              <a:gd name="adj" fmla="val 7500"/>
            </a:avLst>
          </a:prstGeom>
          <a:solidFill>
            <a:schemeClr val="tx1"/>
          </a:solidFill>
          <a:ln/>
        </p:spPr>
      </p:sp>
      <p:sp>
        <p:nvSpPr>
          <p:cNvPr id="20" name="Shape 14"/>
          <p:cNvSpPr/>
          <p:nvPr/>
        </p:nvSpPr>
        <p:spPr>
          <a:xfrm>
            <a:off x="4892040" y="3337560"/>
            <a:ext cx="640080" cy="640080"/>
          </a:xfrm>
          <a:prstGeom prst="ellipse">
            <a:avLst/>
          </a:prstGeom>
          <a:solidFill>
            <a:srgbClr val="00857C"/>
          </a:solidFill>
          <a:ln/>
        </p:spPr>
      </p:sp>
      <p:pic>
        <p:nvPicPr>
          <p:cNvPr id="21" name="Image 3" descr="preencoded.png">    </p:cNvPr>
          <p:cNvPicPr>
            <a:picLocks noChangeAspect="1"/>
          </p:cNvPicPr>
          <p:nvPr/>
        </p:nvPicPr>
        <p:blipFill>
          <a:blip r:embed="rId4"/>
          <a:stretch>
            <a:fillRect/>
          </a:stretch>
        </p:blipFill>
        <p:spPr>
          <a:xfrm>
            <a:off x="5052060" y="3497580"/>
            <a:ext cx="320040" cy="320040"/>
          </a:xfrm>
          <a:prstGeom prst="rect">
            <a:avLst/>
          </a:prstGeom>
        </p:spPr>
      </p:pic>
      <p:sp>
        <p:nvSpPr>
          <p:cNvPr id="22" name="Text 15"/>
          <p:cNvSpPr txBox="1"/>
          <p:nvPr/>
        </p:nvSpPr>
        <p:spPr>
          <a:xfrm>
            <a:off x="5760720" y="3154680"/>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Health</a:t>
            </a:r>
            <a:endParaRPr lang="en-US" sz="1800" dirty="0"/>
          </a:p>
        </p:txBody>
      </p:sp>
      <p:sp>
        <p:nvSpPr>
          <p:cNvPr id="23" name="Text 16"/>
          <p:cNvSpPr txBox="1"/>
          <p:nvPr/>
        </p:nvSpPr>
        <p:spPr>
          <a:xfrm>
            <a:off x="5760720" y="3566160"/>
            <a:ext cx="2743200" cy="731520"/>
          </a:xfrm>
          <a:prstGeom prst="rect">
            <a:avLst/>
          </a:prstGeom>
          <a:noFill/>
          <a:ln/>
        </p:spPr>
        <p:txBody>
          <a:bodyPr wrap="square" lIns="0" tIns="0" rIns="0" bIns="0" rtlCol="0" anchor="ctr"/>
          <a:lstStyle/>
          <a:p>
            <a:pPr indent="0" marL="0">
              <a:buNone/>
            </a:pPr>
            <a:r>
              <a:rPr lang="en-US" sz="1400" dirty="0">
                <a:solidFill>
                  <a:srgbClr val="EAF1F7"/>
                </a:solidFill>
                <a:latin typeface="Calibri" pitchFamily="34" charset="0"/>
                <a:ea typeface="Calibri" pitchFamily="34" charset="-122"/>
                <a:cs typeface="Calibri" pitchFamily="34" charset="-120"/>
              </a:rPr>
              <a:t>Live status for DB, index and both services</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Five scenarios, run live, all matched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834640"/>
                <a:gridCol w="1920240"/>
                <a:gridCol w="3474720"/>
              </a:tblGrid>
              <a:tr h="502920">
                <a:tc>
                  <a:txBody>
                    <a:bodyPr/>
                    <a:lstStyle/>
                    <a:p>
                      <a:pPr indent="0" marL="0">
                        <a:buNone/>
                      </a:pPr>
                      <a:r>
                        <a:rPr lang="en-US" sz="1400" b="1" dirty="0">
                          <a:solidFill>
                            <a:srgbClr val="FFFFFF"/>
                          </a:solidFill>
                        </a:rPr>
                        <a:t>Inquiry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B1B3A"/>
                    </a:solidFill>
                  </a:tcPr>
                </a:tc>
                <a:tc>
                  <a:txBody>
                    <a:bodyPr/>
                    <a:lstStyle/>
                    <a:p>
                      <a:pPr indent="0" marL="0">
                        <a:buNone/>
                      </a:pPr>
                      <a:r>
                        <a:rPr lang="en-US" sz="1400" b="1" dirty="0">
                          <a:solidFill>
                            <a:srgbClr val="FFFFFF"/>
                          </a:solidFill>
                        </a:rPr>
                        <a:t>Routing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B1B3A"/>
                    </a:solidFill>
                  </a:tcPr>
                </a:tc>
                <a:tc>
                  <a:txBody>
                    <a:bodyPr/>
                    <a:lstStyle/>
                    <a:p>
                      <a:pPr indent="0" marL="0">
                        <a:buNone/>
                      </a:pPr>
                      <a:r>
                        <a:rPr lang="en-US" sz="1400" b="1" dirty="0">
                          <a:solidFill>
                            <a:srgbClr val="FFFFFF"/>
                          </a:solidFill>
                        </a:rPr>
                        <a:t>Result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B1B3A"/>
                    </a:solidFill>
                  </a:tcPr>
                </a:tc>
              </a:tr>
              <a:tr h="502920">
                <a:tc>
                  <a:txBody>
                    <a:bodyPr/>
                    <a:lstStyle/>
                    <a:p>
                      <a:pPr indent="0" marL="0">
                        <a:buNone/>
                      </a:pPr>
                      <a:r>
                        <a:rPr lang="en-US" sz="1300" b="1" dirty="0">
                          <a:solidFill>
                            <a:srgbClr val="12203F"/>
                          </a:solidFill>
                        </a:rPr>
                        <a:t>Western Europe roaming policy</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PolicyRAG</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Travel Pass $10/day, Business $5/day</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2203F"/>
                          </a:solidFill>
                        </a:rPr>
                        <a:t>Most CRITICAL outages by region</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NetworkAnalytics</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Midwest, 6 outages</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2203F"/>
                          </a:solidFill>
                        </a:rPr>
                        <a:t>5G drops near tower TX-512</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Network ADK</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3.8% loss, incident INC-8841</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2203F"/>
                          </a:solidFill>
                        </a:rPr>
                        <a:t>CUST-10002 charged twice</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Billing ADK</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$65.99 credit PENDING_APPROVAL</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2203F"/>
                          </a:solidFill>
                        </a:rPr>
                        <a:t>6-hour outage SLA credit?</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Analytics + RAG</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12203F"/>
                          </a:solidFill>
                        </a:rPr>
                        <a:t>$22.50 Business, $62.25 Enterprise pending</a:t>
                      </a:r>
                      <a:endParaRPr lang="en-US" sz="13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434840"/>
            <a:ext cx="7772400" cy="274320"/>
          </a:xfrm>
          <a:prstGeom prst="rect">
            <a:avLst/>
          </a:prstGeom>
          <a:noFill/>
          <a:ln/>
        </p:spPr>
        <p:txBody>
          <a:bodyPr wrap="square" lIns="0" tIns="0" rIns="0" bIns="0" rtlCol="0" anchor="ctr"/>
          <a:lstStyle/>
          <a:p>
            <a:pPr indent="0" marL="0">
              <a:buNone/>
            </a:pPr>
            <a:r>
              <a:rPr lang="en-US" sz="1400" i="1" dirty="0">
                <a:solidFill>
                  <a:srgbClr val="5B6B8C"/>
                </a:solidFill>
                <a:latin typeface="Calibri" pitchFamily="34" charset="0"/>
                <a:ea typeface="Calibri" pitchFamily="34" charset="-122"/>
                <a:cs typeface="Calibri" pitchFamily="34" charset="-120"/>
              </a:rPr>
              <a:t>Every scenario ends with the CrewAI reviewed reply.</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Built to be trusted</a:t>
            </a:r>
            <a:endParaRPr lang="en-US" sz="3000" dirty="0"/>
          </a:p>
        </p:txBody>
      </p:sp>
      <p:sp>
        <p:nvSpPr>
          <p:cNvPr id="4" name="tr0"/>
          <p:cNvSpPr/>
          <p:nvPr/>
        </p:nvSpPr>
        <p:spPr>
          <a:xfrm>
            <a:off x="457200" y="1371600"/>
            <a:ext cx="1965960" cy="2743200"/>
          </a:xfrm>
          <a:prstGeom prst="roundRect">
            <a:avLst>
              <a:gd name="adj" fmla="val 5581"/>
            </a:avLst>
          </a:prstGeom>
          <a:solidFill>
            <a:schemeClr val="tx1"/>
          </a:solidFill>
          <a:ln/>
        </p:spPr>
      </p:sp>
      <p:sp>
        <p:nvSpPr>
          <p:cNvPr id="5" name="Shape 2"/>
          <p:cNvSpPr/>
          <p:nvPr/>
        </p:nvSpPr>
        <p:spPr>
          <a:xfrm>
            <a:off x="1097280" y="1554480"/>
            <a:ext cx="685800" cy="685800"/>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1268730" y="1725930"/>
            <a:ext cx="342900" cy="342900"/>
          </a:xfrm>
          <a:prstGeom prst="rect">
            <a:avLst/>
          </a:prstGeom>
        </p:spPr>
      </p:pic>
      <p:sp>
        <p:nvSpPr>
          <p:cNvPr id="7" name="Text 3"/>
          <p:cNvSpPr txBox="1"/>
          <p:nvPr/>
        </p:nvSpPr>
        <p:spPr>
          <a:xfrm>
            <a:off x="594360" y="2423160"/>
            <a:ext cx="1691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No cached data</a:t>
            </a:r>
            <a:endParaRPr lang="en-US" sz="1600" dirty="0"/>
          </a:p>
        </p:txBody>
      </p:sp>
      <p:sp>
        <p:nvSpPr>
          <p:cNvPr id="8" name="Text 4"/>
          <p:cNvSpPr txBox="1"/>
          <p:nvPr/>
        </p:nvSpPr>
        <p:spPr>
          <a:xfrm>
            <a:off x="594360" y="3017520"/>
            <a:ext cx="1691640" cy="100584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Every tool re-reads SQLite on each call</a:t>
            </a:r>
            <a:endParaRPr lang="en-US" sz="1300" dirty="0"/>
          </a:p>
        </p:txBody>
      </p:sp>
      <p:sp>
        <p:nvSpPr>
          <p:cNvPr id="9" name="tr1"/>
          <p:cNvSpPr/>
          <p:nvPr/>
        </p:nvSpPr>
        <p:spPr>
          <a:xfrm>
            <a:off x="2560320" y="1371600"/>
            <a:ext cx="1965960" cy="2743200"/>
          </a:xfrm>
          <a:prstGeom prst="roundRect">
            <a:avLst>
              <a:gd name="adj" fmla="val 5581"/>
            </a:avLst>
          </a:prstGeom>
          <a:solidFill>
            <a:schemeClr val="tx1"/>
          </a:solidFill>
          <a:ln/>
        </p:spPr>
      </p:sp>
      <p:sp>
        <p:nvSpPr>
          <p:cNvPr id="10" name="Shape 6"/>
          <p:cNvSpPr/>
          <p:nvPr/>
        </p:nvSpPr>
        <p:spPr>
          <a:xfrm>
            <a:off x="3200400" y="1554480"/>
            <a:ext cx="685800" cy="685800"/>
          </a:xfrm>
          <a:prstGeom prst="ellipse">
            <a:avLst/>
          </a:prstGeom>
          <a:solidFill>
            <a:srgbClr val="00857C"/>
          </a:solidFill>
          <a:ln/>
        </p:spPr>
      </p:sp>
      <p:pic>
        <p:nvPicPr>
          <p:cNvPr id="11" name="Image 1" descr="preencoded.png">    </p:cNvPr>
          <p:cNvPicPr>
            <a:picLocks noChangeAspect="1"/>
          </p:cNvPicPr>
          <p:nvPr/>
        </p:nvPicPr>
        <p:blipFill>
          <a:blip r:embed="rId2"/>
          <a:stretch>
            <a:fillRect/>
          </a:stretch>
        </p:blipFill>
        <p:spPr>
          <a:xfrm>
            <a:off x="3371850" y="1725930"/>
            <a:ext cx="342900" cy="342900"/>
          </a:xfrm>
          <a:prstGeom prst="rect">
            <a:avLst/>
          </a:prstGeom>
        </p:spPr>
      </p:pic>
      <p:sp>
        <p:nvSpPr>
          <p:cNvPr id="12" name="Text 7"/>
          <p:cNvSpPr txBox="1"/>
          <p:nvPr/>
        </p:nvSpPr>
        <p:spPr>
          <a:xfrm>
            <a:off x="2697480" y="2423160"/>
            <a:ext cx="1691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Code-level guardrails</a:t>
            </a:r>
            <a:endParaRPr lang="en-US" sz="1600" dirty="0"/>
          </a:p>
        </p:txBody>
      </p:sp>
      <p:sp>
        <p:nvSpPr>
          <p:cNvPr id="13" name="Text 8"/>
          <p:cNvSpPr txBox="1"/>
          <p:nvPr/>
        </p:nvSpPr>
        <p:spPr>
          <a:xfrm>
            <a:off x="2697480" y="3017520"/>
            <a:ext cx="1691640" cy="100584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CrewAI always last; 6-hop loop cap</a:t>
            </a:r>
            <a:endParaRPr lang="en-US" sz="1300" dirty="0"/>
          </a:p>
        </p:txBody>
      </p:sp>
      <p:sp>
        <p:nvSpPr>
          <p:cNvPr id="14" name="tr2"/>
          <p:cNvSpPr/>
          <p:nvPr/>
        </p:nvSpPr>
        <p:spPr>
          <a:xfrm>
            <a:off x="4663440" y="1371600"/>
            <a:ext cx="1965960" cy="2743200"/>
          </a:xfrm>
          <a:prstGeom prst="roundRect">
            <a:avLst>
              <a:gd name="adj" fmla="val 5581"/>
            </a:avLst>
          </a:prstGeom>
          <a:solidFill>
            <a:schemeClr val="tx1"/>
          </a:solidFill>
          <a:ln/>
        </p:spPr>
      </p:sp>
      <p:sp>
        <p:nvSpPr>
          <p:cNvPr id="15" name="Shape 10"/>
          <p:cNvSpPr/>
          <p:nvPr/>
        </p:nvSpPr>
        <p:spPr>
          <a:xfrm>
            <a:off x="5303520" y="1554480"/>
            <a:ext cx="685800" cy="685800"/>
          </a:xfrm>
          <a:prstGeom prst="ellipse">
            <a:avLst/>
          </a:prstGeom>
          <a:solidFill>
            <a:srgbClr val="00857C"/>
          </a:solidFill>
          <a:ln/>
        </p:spPr>
      </p:sp>
      <p:pic>
        <p:nvPicPr>
          <p:cNvPr id="16" name="Image 2" descr="preencoded.png">    </p:cNvPr>
          <p:cNvPicPr>
            <a:picLocks noChangeAspect="1"/>
          </p:cNvPicPr>
          <p:nvPr/>
        </p:nvPicPr>
        <p:blipFill>
          <a:blip r:embed="rId3"/>
          <a:stretch>
            <a:fillRect/>
          </a:stretch>
        </p:blipFill>
        <p:spPr>
          <a:xfrm>
            <a:off x="5474970" y="1725930"/>
            <a:ext cx="342900" cy="342900"/>
          </a:xfrm>
          <a:prstGeom prst="rect">
            <a:avLst/>
          </a:prstGeom>
        </p:spPr>
      </p:pic>
      <p:sp>
        <p:nvSpPr>
          <p:cNvPr id="17" name="Text 11"/>
          <p:cNvSpPr txBox="1"/>
          <p:nvPr/>
        </p:nvSpPr>
        <p:spPr>
          <a:xfrm>
            <a:off x="4800600" y="2423160"/>
            <a:ext cx="1691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Graceful failure</a:t>
            </a:r>
            <a:endParaRPr lang="en-US" sz="1600" dirty="0"/>
          </a:p>
        </p:txBody>
      </p:sp>
      <p:sp>
        <p:nvSpPr>
          <p:cNvPr id="18" name="Text 12"/>
          <p:cNvSpPr txBox="1"/>
          <p:nvPr/>
        </p:nvSpPr>
        <p:spPr>
          <a:xfrm>
            <a:off x="4800600" y="3017520"/>
            <a:ext cx="1691640" cy="100584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Down service returns the exact start command</a:t>
            </a:r>
            <a:endParaRPr lang="en-US" sz="1300" dirty="0"/>
          </a:p>
        </p:txBody>
      </p:sp>
      <p:sp>
        <p:nvSpPr>
          <p:cNvPr id="19" name="tr3"/>
          <p:cNvSpPr/>
          <p:nvPr/>
        </p:nvSpPr>
        <p:spPr>
          <a:xfrm>
            <a:off x="6766560" y="1371600"/>
            <a:ext cx="1965960" cy="2743200"/>
          </a:xfrm>
          <a:prstGeom prst="roundRect">
            <a:avLst>
              <a:gd name="adj" fmla="val 5581"/>
            </a:avLst>
          </a:prstGeom>
          <a:solidFill>
            <a:schemeClr val="tx1"/>
          </a:solidFill>
          <a:ln/>
        </p:spPr>
      </p:sp>
      <p:sp>
        <p:nvSpPr>
          <p:cNvPr id="20" name="Shape 14"/>
          <p:cNvSpPr/>
          <p:nvPr/>
        </p:nvSpPr>
        <p:spPr>
          <a:xfrm>
            <a:off x="7406640" y="1554480"/>
            <a:ext cx="685800" cy="685800"/>
          </a:xfrm>
          <a:prstGeom prst="ellipse">
            <a:avLst/>
          </a:prstGeom>
          <a:solidFill>
            <a:srgbClr val="00857C"/>
          </a:solidFill>
          <a:ln/>
        </p:spPr>
      </p:sp>
      <p:pic>
        <p:nvPicPr>
          <p:cNvPr id="21" name="Image 3" descr="preencoded.png">    </p:cNvPr>
          <p:cNvPicPr>
            <a:picLocks noChangeAspect="1"/>
          </p:cNvPicPr>
          <p:nvPr/>
        </p:nvPicPr>
        <p:blipFill>
          <a:blip r:embed="rId4"/>
          <a:stretch>
            <a:fillRect/>
          </a:stretch>
        </p:blipFill>
        <p:spPr>
          <a:xfrm>
            <a:off x="7578090" y="1725930"/>
            <a:ext cx="342900" cy="342900"/>
          </a:xfrm>
          <a:prstGeom prst="rect">
            <a:avLst/>
          </a:prstGeom>
        </p:spPr>
      </p:pic>
      <p:sp>
        <p:nvSpPr>
          <p:cNvPr id="22" name="Text 15"/>
          <p:cNvSpPr txBox="1"/>
          <p:nvPr/>
        </p:nvSpPr>
        <p:spPr>
          <a:xfrm>
            <a:off x="6903720" y="2423160"/>
            <a:ext cx="1691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Tested</a:t>
            </a:r>
            <a:endParaRPr lang="en-US" sz="1600" dirty="0"/>
          </a:p>
        </p:txBody>
      </p:sp>
      <p:sp>
        <p:nvSpPr>
          <p:cNvPr id="23" name="Text 16"/>
          <p:cNvSpPr txBox="1"/>
          <p:nvPr/>
        </p:nvSpPr>
        <p:spPr>
          <a:xfrm>
            <a:off x="6903720" y="3017520"/>
            <a:ext cx="1691640" cy="1005840"/>
          </a:xfrm>
          <a:prstGeom prst="rect">
            <a:avLst/>
          </a:prstGeom>
          <a:noFill/>
          <a:ln/>
        </p:spPr>
        <p:txBody>
          <a:bodyPr wrap="square" lIns="0" tIns="0" rIns="0" bIns="0" rtlCol="0" anchor="ctr"/>
          <a:lstStyle/>
          <a:p>
            <a:pPr algn="ctr" indent="0" marL="0">
              <a:buNone/>
            </a:pPr>
            <a:r>
              <a:rPr lang="en-US" sz="1300" dirty="0">
                <a:solidFill>
                  <a:srgbClr val="EAF1F7"/>
                </a:solidFill>
                <a:latin typeface="Calibri" pitchFamily="34" charset="0"/>
                <a:ea typeface="Calibri" pitchFamily="34" charset="-122"/>
                <a:cs typeface="Calibri" pitchFamily="34" charset="-120"/>
              </a:rPr>
              <a:t>Pytest across every layer; 5 scenarios run live</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this wins</a:t>
            </a:r>
            <a:endParaRPr lang="en-US" sz="3000" dirty="0"/>
          </a:p>
        </p:txBody>
      </p:sp>
      <p:sp>
        <p:nvSpPr>
          <p:cNvPr id="4" name="win0"/>
          <p:cNvSpPr/>
          <p:nvPr/>
        </p:nvSpPr>
        <p:spPr>
          <a:xfrm>
            <a:off x="457200" y="1280160"/>
            <a:ext cx="5120640" cy="658368"/>
          </a:xfrm>
          <a:prstGeom prst="roundRect">
            <a:avLst>
              <a:gd name="adj" fmla="val 16667"/>
            </a:avLst>
          </a:prstGeom>
          <a:solidFill>
            <a:schemeClr val="bg2"/>
          </a:solidFill>
          <a:ln/>
        </p:spPr>
      </p:sp>
      <p:sp>
        <p:nvSpPr>
          <p:cNvPr id="5" name="Shape 2"/>
          <p:cNvSpPr/>
          <p:nvPr/>
        </p:nvSpPr>
        <p:spPr>
          <a:xfrm>
            <a:off x="594360" y="1353312"/>
            <a:ext cx="512064" cy="512064"/>
          </a:xfrm>
          <a:prstGeom prst="ellipse">
            <a:avLst/>
          </a:prstGeom>
          <a:solidFill>
            <a:srgbClr val="00857C"/>
          </a:solidFill>
          <a:ln/>
        </p:spPr>
      </p:sp>
      <p:pic>
        <p:nvPicPr>
          <p:cNvPr id="6" name="Image 0" descr="preencoded.png">    </p:cNvPr>
          <p:cNvPicPr>
            <a:picLocks noChangeAspect="1"/>
          </p:cNvPicPr>
          <p:nvPr/>
        </p:nvPicPr>
        <p:blipFill>
          <a:blip r:embed="rId1"/>
          <a:stretch>
            <a:fillRect/>
          </a:stretch>
        </p:blipFill>
        <p:spPr>
          <a:xfrm>
            <a:off x="722376" y="1481328"/>
            <a:ext cx="256032" cy="256032"/>
          </a:xfrm>
          <a:prstGeom prst="rect">
            <a:avLst/>
          </a:prstGeom>
        </p:spPr>
      </p:pic>
      <p:sp>
        <p:nvSpPr>
          <p:cNvPr id="7" name="Text 3"/>
          <p:cNvSpPr txBox="1"/>
          <p:nvPr/>
        </p:nvSpPr>
        <p:spPr>
          <a:xfrm>
            <a:off x="1280160" y="1280160"/>
            <a:ext cx="1371600" cy="658368"/>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Faster</a:t>
            </a:r>
            <a:endParaRPr lang="en-US" sz="1600" dirty="0"/>
          </a:p>
        </p:txBody>
      </p:sp>
      <p:sp>
        <p:nvSpPr>
          <p:cNvPr id="8" name="Text 4"/>
          <p:cNvSpPr txBox="1"/>
          <p:nvPr/>
        </p:nvSpPr>
        <p:spPr>
          <a:xfrm>
            <a:off x="2834640" y="1280160"/>
            <a:ext cx="2651760" cy="658368"/>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Seconds, not a multi-system hunt</a:t>
            </a:r>
            <a:endParaRPr lang="en-US" sz="1300" dirty="0"/>
          </a:p>
        </p:txBody>
      </p:sp>
      <p:sp>
        <p:nvSpPr>
          <p:cNvPr id="9" name="win1"/>
          <p:cNvSpPr/>
          <p:nvPr/>
        </p:nvSpPr>
        <p:spPr>
          <a:xfrm>
            <a:off x="457200" y="2057400"/>
            <a:ext cx="5120640" cy="658368"/>
          </a:xfrm>
          <a:prstGeom prst="roundRect">
            <a:avLst>
              <a:gd name="adj" fmla="val 16667"/>
            </a:avLst>
          </a:prstGeom>
          <a:solidFill>
            <a:schemeClr val="bg2"/>
          </a:solidFill>
          <a:ln/>
        </p:spPr>
      </p:sp>
      <p:sp>
        <p:nvSpPr>
          <p:cNvPr id="10" name="Shape 6"/>
          <p:cNvSpPr/>
          <p:nvPr/>
        </p:nvSpPr>
        <p:spPr>
          <a:xfrm>
            <a:off x="594360" y="2130552"/>
            <a:ext cx="512064" cy="512064"/>
          </a:xfrm>
          <a:prstGeom prst="ellipse">
            <a:avLst/>
          </a:prstGeom>
          <a:solidFill>
            <a:srgbClr val="00857C"/>
          </a:solidFill>
          <a:ln/>
        </p:spPr>
      </p:sp>
      <p:pic>
        <p:nvPicPr>
          <p:cNvPr id="11" name="Image 1" descr="preencoded.png">    </p:cNvPr>
          <p:cNvPicPr>
            <a:picLocks noChangeAspect="1"/>
          </p:cNvPicPr>
          <p:nvPr/>
        </p:nvPicPr>
        <p:blipFill>
          <a:blip r:embed="rId2"/>
          <a:stretch>
            <a:fillRect/>
          </a:stretch>
        </p:blipFill>
        <p:spPr>
          <a:xfrm>
            <a:off x="722376" y="2258568"/>
            <a:ext cx="256032" cy="256032"/>
          </a:xfrm>
          <a:prstGeom prst="rect">
            <a:avLst/>
          </a:prstGeom>
        </p:spPr>
      </p:pic>
      <p:sp>
        <p:nvSpPr>
          <p:cNvPr id="12" name="Text 7"/>
          <p:cNvSpPr txBox="1"/>
          <p:nvPr/>
        </p:nvSpPr>
        <p:spPr>
          <a:xfrm>
            <a:off x="1280160" y="2057400"/>
            <a:ext cx="1371600" cy="658368"/>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More accurate</a:t>
            </a:r>
            <a:endParaRPr lang="en-US" sz="1600" dirty="0"/>
          </a:p>
        </p:txBody>
      </p:sp>
      <p:sp>
        <p:nvSpPr>
          <p:cNvPr id="13" name="Text 8"/>
          <p:cNvSpPr txBox="1"/>
          <p:nvPr/>
        </p:nvSpPr>
        <p:spPr>
          <a:xfrm>
            <a:off x="2834640" y="2057400"/>
            <a:ext cx="2651760" cy="658368"/>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Facts from data, reviewed first</a:t>
            </a:r>
            <a:endParaRPr lang="en-US" sz="1300" dirty="0"/>
          </a:p>
        </p:txBody>
      </p:sp>
      <p:sp>
        <p:nvSpPr>
          <p:cNvPr id="14" name="win2"/>
          <p:cNvSpPr/>
          <p:nvPr/>
        </p:nvSpPr>
        <p:spPr>
          <a:xfrm>
            <a:off x="457200" y="2834640"/>
            <a:ext cx="5120640" cy="658368"/>
          </a:xfrm>
          <a:prstGeom prst="roundRect">
            <a:avLst>
              <a:gd name="adj" fmla="val 16667"/>
            </a:avLst>
          </a:prstGeom>
          <a:solidFill>
            <a:schemeClr val="bg2"/>
          </a:solidFill>
          <a:ln/>
        </p:spPr>
      </p:sp>
      <p:sp>
        <p:nvSpPr>
          <p:cNvPr id="15" name="Shape 10"/>
          <p:cNvSpPr/>
          <p:nvPr/>
        </p:nvSpPr>
        <p:spPr>
          <a:xfrm>
            <a:off x="594360" y="2907792"/>
            <a:ext cx="512064" cy="512064"/>
          </a:xfrm>
          <a:prstGeom prst="ellipse">
            <a:avLst/>
          </a:prstGeom>
          <a:solidFill>
            <a:srgbClr val="00857C"/>
          </a:solidFill>
          <a:ln/>
        </p:spPr>
      </p:sp>
      <p:pic>
        <p:nvPicPr>
          <p:cNvPr id="16" name="Image 2" descr="preencoded.png">    </p:cNvPr>
          <p:cNvPicPr>
            <a:picLocks noChangeAspect="1"/>
          </p:cNvPicPr>
          <p:nvPr/>
        </p:nvPicPr>
        <p:blipFill>
          <a:blip r:embed="rId3"/>
          <a:stretch>
            <a:fillRect/>
          </a:stretch>
        </p:blipFill>
        <p:spPr>
          <a:xfrm>
            <a:off x="722376" y="3035808"/>
            <a:ext cx="256032" cy="256032"/>
          </a:xfrm>
          <a:prstGeom prst="rect">
            <a:avLst/>
          </a:prstGeom>
        </p:spPr>
      </p:pic>
      <p:sp>
        <p:nvSpPr>
          <p:cNvPr id="17" name="Text 11"/>
          <p:cNvSpPr txBox="1"/>
          <p:nvPr/>
        </p:nvSpPr>
        <p:spPr>
          <a:xfrm>
            <a:off x="1280160" y="2834640"/>
            <a:ext cx="1371600" cy="658368"/>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Transparent</a:t>
            </a:r>
            <a:endParaRPr lang="en-US" sz="1600" dirty="0"/>
          </a:p>
        </p:txBody>
      </p:sp>
      <p:sp>
        <p:nvSpPr>
          <p:cNvPr id="18" name="Text 12"/>
          <p:cNvSpPr txBox="1"/>
          <p:nvPr/>
        </p:nvSpPr>
        <p:spPr>
          <a:xfrm>
            <a:off x="2834640" y="2834640"/>
            <a:ext cx="2651760" cy="658368"/>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Auditable trace of every step</a:t>
            </a:r>
            <a:endParaRPr lang="en-US" sz="1300" dirty="0"/>
          </a:p>
        </p:txBody>
      </p:sp>
      <p:sp>
        <p:nvSpPr>
          <p:cNvPr id="19" name="win3"/>
          <p:cNvSpPr/>
          <p:nvPr/>
        </p:nvSpPr>
        <p:spPr>
          <a:xfrm>
            <a:off x="457200" y="3611880"/>
            <a:ext cx="5120640" cy="658368"/>
          </a:xfrm>
          <a:prstGeom prst="roundRect">
            <a:avLst>
              <a:gd name="adj" fmla="val 16667"/>
            </a:avLst>
          </a:prstGeom>
          <a:solidFill>
            <a:schemeClr val="bg2"/>
          </a:solidFill>
          <a:ln/>
        </p:spPr>
      </p:sp>
      <p:sp>
        <p:nvSpPr>
          <p:cNvPr id="20" name="Shape 14"/>
          <p:cNvSpPr/>
          <p:nvPr/>
        </p:nvSpPr>
        <p:spPr>
          <a:xfrm>
            <a:off x="594360" y="3685032"/>
            <a:ext cx="512064" cy="512064"/>
          </a:xfrm>
          <a:prstGeom prst="ellipse">
            <a:avLst/>
          </a:prstGeom>
          <a:solidFill>
            <a:srgbClr val="00857C"/>
          </a:solidFill>
          <a:ln/>
        </p:spPr>
      </p:sp>
      <p:pic>
        <p:nvPicPr>
          <p:cNvPr id="21" name="Image 3" descr="preencoded.png">    </p:cNvPr>
          <p:cNvPicPr>
            <a:picLocks noChangeAspect="1"/>
          </p:cNvPicPr>
          <p:nvPr/>
        </p:nvPicPr>
        <p:blipFill>
          <a:blip r:embed="rId4"/>
          <a:stretch>
            <a:fillRect/>
          </a:stretch>
        </p:blipFill>
        <p:spPr>
          <a:xfrm>
            <a:off x="722376" y="3813048"/>
            <a:ext cx="256032" cy="256032"/>
          </a:xfrm>
          <a:prstGeom prst="rect">
            <a:avLst/>
          </a:prstGeom>
        </p:spPr>
      </p:pic>
      <p:sp>
        <p:nvSpPr>
          <p:cNvPr id="22" name="Text 15"/>
          <p:cNvSpPr txBox="1"/>
          <p:nvPr/>
        </p:nvSpPr>
        <p:spPr>
          <a:xfrm>
            <a:off x="1280160" y="3611880"/>
            <a:ext cx="1371600" cy="658368"/>
          </a:xfrm>
          <a:prstGeom prst="rect">
            <a:avLst/>
          </a:prstGeom>
          <a:noFill/>
          <a:ln/>
        </p:spPr>
        <p:txBody>
          <a:bodyPr wrap="square" lIns="0" tIns="0" rIns="0" bIns="0" rtlCol="0" anchor="ctr"/>
          <a:lstStyle/>
          <a:p>
            <a:pPr indent="0" marL="0">
              <a:buNone/>
            </a:pPr>
            <a:r>
              <a:rPr lang="en-US" sz="1600" b="1" dirty="0">
                <a:solidFill>
                  <a:srgbClr val="12203F"/>
                </a:solidFill>
                <a:latin typeface="Calibri" pitchFamily="34" charset="0"/>
                <a:ea typeface="Calibri" pitchFamily="34" charset="-122"/>
                <a:cs typeface="Calibri" pitchFamily="34" charset="-120"/>
              </a:rPr>
              <a:t>Modular</a:t>
            </a:r>
            <a:endParaRPr lang="en-US" sz="1600" dirty="0"/>
          </a:p>
        </p:txBody>
      </p:sp>
      <p:sp>
        <p:nvSpPr>
          <p:cNvPr id="23" name="Text 16"/>
          <p:cNvSpPr txBox="1"/>
          <p:nvPr/>
        </p:nvSpPr>
        <p:spPr>
          <a:xfrm>
            <a:off x="2834640" y="3611880"/>
            <a:ext cx="2651760" cy="658368"/>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Swap or deploy parts independently</a:t>
            </a:r>
            <a:endParaRPr lang="en-US" sz="1300" dirty="0"/>
          </a:p>
        </p:txBody>
      </p:sp>
      <p:sp>
        <p:nvSpPr>
          <p:cNvPr id="24" name="cta"/>
          <p:cNvSpPr/>
          <p:nvPr/>
        </p:nvSpPr>
        <p:spPr>
          <a:xfrm>
            <a:off x="5852160" y="1280160"/>
            <a:ext cx="2834640" cy="3017520"/>
          </a:xfrm>
          <a:prstGeom prst="roundRect">
            <a:avLst>
              <a:gd name="adj" fmla="val 3871"/>
            </a:avLst>
          </a:prstGeom>
          <a:solidFill>
            <a:schemeClr val="tx2"/>
          </a:solidFill>
          <a:ln/>
        </p:spPr>
      </p:sp>
      <p:sp>
        <p:nvSpPr>
          <p:cNvPr id="25" name="Text 18"/>
          <p:cNvSpPr txBox="1"/>
          <p:nvPr/>
        </p:nvSpPr>
        <p:spPr>
          <a:xfrm>
            <a:off x="6080760" y="1463040"/>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See it live</a:t>
            </a:r>
            <a:endParaRPr lang="en-US" sz="2200" dirty="0"/>
          </a:p>
        </p:txBody>
      </p:sp>
      <p:sp>
        <p:nvSpPr>
          <p:cNvPr id="26" name="Text 19"/>
          <p:cNvSpPr txBox="1"/>
          <p:nvPr/>
        </p:nvSpPr>
        <p:spPr>
          <a:xfrm>
            <a:off x="6080760" y="2103120"/>
            <a:ext cx="2468880" cy="1097280"/>
          </a:xfrm>
          <a:prstGeom prst="rect">
            <a:avLst/>
          </a:prstGeom>
          <a:noFill/>
          <a:ln/>
        </p:spPr>
        <p:txBody>
          <a:bodyPr wrap="square" lIns="0" tIns="0" rIns="0" bIns="0" rtlCol="0" anchor="ctr"/>
          <a:lstStyle/>
          <a:p>
            <a:pPr indent="0" marL="0">
              <a:spcAft>
                <a:spcPts val="600"/>
              </a:spcAft>
              <a:buNone/>
            </a:pPr>
            <a:r>
              <a:rPr lang="en-US" sz="1300" dirty="0">
                <a:solidFill>
                  <a:srgbClr val="2BD4A7"/>
                </a:solidFill>
                <a:latin typeface="Courier New" pitchFamily="34" charset="0"/>
                <a:ea typeface="Courier New" pitchFamily="34" charset="-122"/>
                <a:cs typeface="Courier New" pitchFamily="34" charset="-120"/>
              </a:rPr>
              <a:t>python init_db.py</a:t>
            </a:r>
            <a:endParaRPr lang="en-US" sz="1300" dirty="0"/>
          </a:p>
          <a:p>
            <a:pPr indent="0" marL="0">
              <a:spcAft>
                <a:spcPts val="600"/>
              </a:spcAft>
              <a:buNone/>
            </a:pPr>
            <a:r>
              <a:rPr lang="en-US" sz="1300" dirty="0">
                <a:solidFill>
                  <a:srgbClr val="2BD4A7"/>
                </a:solidFill>
                <a:latin typeface="Courier New" pitchFamily="34" charset="0"/>
                <a:ea typeface="Courier New" pitchFamily="34" charset="-122"/>
                <a:cs typeface="Courier New" pitchFamily="34" charset="-120"/>
              </a:rPr>
              <a:t>Start both ADK services</a:t>
            </a:r>
            <a:endParaRPr lang="en-US" sz="1300" dirty="0"/>
          </a:p>
          <a:p>
            <a:pPr indent="0" marL="0">
              <a:spcAft>
                <a:spcPts val="600"/>
              </a:spcAft>
              <a:buNone/>
            </a:pPr>
            <a:r>
              <a:rPr lang="en-US" sz="1300" dirty="0">
                <a:solidFill>
                  <a:srgbClr val="2BD4A7"/>
                </a:solidFill>
                <a:latin typeface="Courier New" pitchFamily="34" charset="0"/>
                <a:ea typeface="Courier New" pitchFamily="34" charset="-122"/>
                <a:cs typeface="Courier New" pitchFamily="34" charset="-120"/>
              </a:rPr>
              <a:t>streamlit run ui/app.py</a:t>
            </a:r>
            <a:endParaRPr lang="en-US" sz="1300" dirty="0"/>
          </a:p>
        </p:txBody>
      </p:sp>
      <p:sp>
        <p:nvSpPr>
          <p:cNvPr id="27" name="Text 20"/>
          <p:cNvSpPr txBox="1"/>
          <p:nvPr/>
        </p:nvSpPr>
        <p:spPr>
          <a:xfrm>
            <a:off x="6080760" y="3383280"/>
            <a:ext cx="2468880" cy="73152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Ask it anything. Watch the trace.</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rodapt Ops">
  <a:themeElements>
    <a:clrScheme name="Prodapt Ops">
      <a:dk1>
        <a:srgbClr val="12203F"/>
      </a:dk1>
      <a:lt1>
        <a:srgbClr val="FFFFFF"/>
      </a:lt1>
      <a:dk2>
        <a:srgbClr val="0B1B3A"/>
      </a:dk2>
      <a:lt2>
        <a:srgbClr val="EAF1F7"/>
      </a:lt2>
      <a:accent1>
        <a:srgbClr val="00857C"/>
      </a:accent1>
      <a:accent2>
        <a:srgbClr val="FFB020"/>
      </a:accent2>
      <a:accent3>
        <a:srgbClr val="7C5CFF"/>
      </a:accent3>
      <a:accent4>
        <a:srgbClr val="E5484D"/>
      </a:accent4>
      <a:accent5>
        <a:srgbClr val="5B6B8C"/>
      </a:accent5>
      <a:accent6>
        <a:srgbClr val="2BD4A7"/>
      </a:accent6>
      <a:hlink>
        <a:srgbClr val="00857C"/>
      </a:hlink>
      <a:folHlink>
        <a:srgbClr val="5B6B8C"/>
      </a:folHlink>
    </a:clrScheme>
    <a:fontScheme name="Prodapt 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Prodapt AI Operations Center</dc:title>
  <dc:subject>PptxGenJS Presentation</dc:subject>
  <dc:creator>Prodapt</dc:creator>
  <cp:lastModifiedBy>Prodapt</cp:lastModifiedBy>
  <cp:revision>1</cp:revision>
  <dcterms:created xsi:type="dcterms:W3CDTF">2026-10-07T13:59:44Z</dcterms:created>
  <dcterms:modified xsi:type="dcterms:W3CDTF">2026-10-07T13:59:44Z</dcterms:modified>
</cp:coreProperties>
</file>