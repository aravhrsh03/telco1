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"Hi, I'm [Your Name]. This is Retention Intelligence - a platform that</a:t>
            </a:r>
          </a:p>
          <a:p>
            <a:r>
              <a:t>doesn't just tell you a customer might leave, it explains why, backs that</a:t>
            </a:r>
          </a:p>
          <a:p>
            <a:r>
              <a:t>with a real model, and lets your team ask it anything in plain language.</a:t>
            </a:r>
          </a:p>
          <a:p>
            <a:r>
              <a:t>Let me show you, before I explain how it works."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explain anything yet - just show it. Then: "That answer didn't come</a:t>
            </a:r>
          </a:p>
          <a:p>
            <a:r>
              <a:t>from a script. Every number in it was pulled live, through a real tool</a:t>
            </a:r>
          </a:p>
          <a:p>
            <a:r>
              <a:t>call, from the exact platform you just saw. Now let me walk you through it,</a:t>
            </a:r>
          </a:p>
          <a:p>
            <a:r>
              <a:t>feature by feature."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"Here's why that matters. Every retention team deals with the same problem:</a:t>
            </a:r>
          </a:p>
          <a:p>
            <a:r>
              <a:t>a customer cancels, and only then does anyone look back and see the warning</a:t>
            </a:r>
          </a:p>
          <a:p>
            <a:r>
              <a:t>signs. A rule-based list can flag risk - it can't explain it, and it</a:t>
            </a:r>
          </a:p>
          <a:p>
            <a:r>
              <a:t>definitely can't answer 'why', or 'what if we offered them a different</a:t>
            </a:r>
          </a:p>
          <a:p>
            <a:r>
              <a:t>contract'."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"So the whole product is built around one boundary. The database and</a:t>
            </a:r>
          </a:p>
          <a:p>
            <a:r>
              <a:t>pipeline hold what's actually true about a customer. The model estimates</a:t>
            </a:r>
          </a:p>
          <a:p>
            <a:r>
              <a:t>how risky they are. And the AI layer turns that into a plain-language</a:t>
            </a:r>
          </a:p>
          <a:p>
            <a:r>
              <a:t>answer - grounded in a real tool call every time, never a guess. That</a:t>
            </a:r>
          </a:p>
          <a:p>
            <a:r>
              <a:t>discipline is what you just watched work."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"Let's go feature by feature, starting at the foundation. One cleaning</a:t>
            </a:r>
          </a:p>
          <a:p>
            <a:r>
              <a:t>class fixes the dataset's real problems - once - and everything downstream</a:t>
            </a:r>
          </a:p>
          <a:p>
            <a:r>
              <a:t>imports it instead of re-implementing the fix. That's what lets a</a:t>
            </a:r>
          </a:p>
          <a:p>
            <a:r>
              <a:t>dashboard, a model, and an AI assistant all agree on the same customer."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"That cleaning class feeds a real pipeline - seven stages, from ingestion</a:t>
            </a:r>
          </a:p>
          <a:p>
            <a:r>
              <a:t>through a scheduled daily brief, with a quality gate that has to pass and a</a:t>
            </a:r>
          </a:p>
          <a:p>
            <a:r>
              <a:t>PySpark cross-check proving the numbers hold on a completely different</a:t>
            </a:r>
          </a:p>
          <a:p>
            <a:r>
              <a:t>processing engine, not just in one notebook."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"First stop on the dashboard: the executive summary. Total customers,</a:t>
            </a:r>
          </a:p>
          <a:p>
            <a:r>
              <a:t>churn rate, and the split by contract and service type - the number a</a:t>
            </a:r>
          </a:p>
          <a:p>
            <a:r>
              <a:t>manager actually opens the dashboard to see."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"Next, the ranked list retention teams actually work from - fully</a:t>
            </a:r>
          </a:p>
          <a:p>
            <a:r>
              <a:t>explainable, no model required to understand why someone's on it - plus</a:t>
            </a:r>
          </a:p>
          <a:p>
            <a:r>
              <a:t>instant lookup for any single customer by ID."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"Here's the number I actually want to talk about. We used Claude to audit</a:t>
            </a:r>
          </a:p>
          <a:p>
            <a:r>
              <a:t>our own inference code, and it found a real defect: the live prediction</a:t>
            </a:r>
          </a:p>
          <a:p>
            <a:r>
              <a:t>endpoint was only using four of the model's thirty-eight trained inputs.</a:t>
            </a:r>
          </a:p>
          <a:p>
            <a:r>
              <a:t>For one real customer, 7590-VHVEG, that bug produced 'unlikely to churn' at</a:t>
            </a:r>
          </a:p>
          <a:p>
            <a:r>
              <a:t>45.8% - fixed, using their real data, that same customer scores 56.5% and</a:t>
            </a:r>
          </a:p>
          <a:p>
            <a:r>
              <a:t>flips to 'likely to churn'. Same customer, opposite answer. That's the cost</a:t>
            </a:r>
          </a:p>
          <a:p>
            <a:r>
              <a:t>of the bug, and it's why we don't just say we fixed it - we can show you</a:t>
            </a:r>
          </a:p>
          <a:p>
            <a:r>
              <a:t>the before and after commit."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"And now the payoff - ask it anything. Four tools, wired directly into the</a:t>
            </a:r>
          </a:p>
          <a:p>
            <a:r>
              <a:t>same functions the dashboard already uses, so there's exactly one</a:t>
            </a:r>
          </a:p>
          <a:p>
            <a:r>
              <a:t>implementation of 'what's true about a customer', not two that could drift</a:t>
            </a:r>
          </a:p>
          <a:p>
            <a:r>
              <a:t>apart. Every answer shows its work."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"Two more places Claude works without anyone chatting with it at all: a</a:t>
            </a:r>
          </a:p>
          <a:p>
            <a:r>
              <a:t>daily brief that only ever sees aggregated risk deltas by segment, never a</a:t>
            </a:r>
          </a:p>
          <a:p>
            <a:r>
              <a:t>raw customer, and a code reviewer that runs automatically before any change</a:t>
            </a:r>
          </a:p>
          <a:p>
            <a:r>
              <a:t>reaches the shared repo."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"It's not a lookup box - it reasons across multiple tools in one answer,</a:t>
            </a:r>
          </a:p>
          <a:p>
            <a:r>
              <a:t>and it always shows which ones. Ask it a what-if, and it runs a real</a:t>
            </a:r>
          </a:p>
          <a:p>
            <a:r>
              <a:t>hypothetical prediction rather than guessing."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 few things make this more than a demo. Every reply is checked against a</a:t>
            </a:r>
          </a:p>
          <a:p>
            <a:r>
              <a:t>fifteen-question evaluation set that specifically includes questions it</a:t>
            </a:r>
          </a:p>
          <a:p>
            <a:r>
              <a:t>should refuse to answer. Every tool argument is schema-validated before it</a:t>
            </a:r>
          </a:p>
          <a:p>
            <a:r>
              <a:t>touches the database. A secret-leakage guard runs on every outbound prompt</a:t>
            </a:r>
          </a:p>
          <a:p>
            <a:r>
              <a:t>in the system. And every conversation is written to a permanent audit log."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"So, the numbers behind everything you just watched: seven thousand and</a:t>
            </a:r>
          </a:p>
          <a:p>
            <a:r>
              <a:t>forty-three customers, four live AI tools with no duplicated logic, a</a:t>
            </a:r>
          </a:p>
          <a:p>
            <a:r>
              <a:t>fifteen-question evaluation harness, and an honest F1 score on the class</a:t>
            </a:r>
          </a:p>
          <a:p>
            <a:r>
              <a:t>that actually matters."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"And this isn't a finished, static thing. Next: put the pipeline DAG on a</a:t>
            </a:r>
          </a:p>
          <a:p>
            <a:r>
              <a:t>real scheduler, add per-customer authorization, and run the full two-model</a:t>
            </a:r>
          </a:p>
          <a:p>
            <a:r>
              <a:t>evaluation to lock in a production model choice with real numbers instead</a:t>
            </a:r>
          </a:p>
          <a:p>
            <a:r>
              <a:t>of a documented default."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"That's Retention Intelligence - the database tells you what's true, the</a:t>
            </a:r>
          </a:p>
          <a:p>
            <a:r>
              <a:t>model tells you how risky, and the AI layer tells you what to do about it,</a:t>
            </a:r>
          </a:p>
          <a:p>
            <a:r>
              <a:t>grounded in a real tool call every time. Thanks for watching - happy to</a:t>
            </a:r>
          </a:p>
          <a:p>
            <a:r>
              <a:t>answer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 Light"/>
              </a:rPr>
              <a:t>Retention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C5D3DE"/>
                </a:solidFill>
                <a:latin typeface="Segoe UI"/>
              </a:rPr>
              <a:t>A live customer-retention platform that doesn't just show you who's churning - it explains why, and lets you ask it anything.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692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8FA6B6"/>
                </a:solidFill>
                <a:latin typeface="Segoe UI"/>
              </a:rPr>
              <a:t>Presented by [Your Name]  ·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DD7A2E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 Light"/>
              </a:rPr>
              <a:t>The Hook (~75 sec)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1.  </a:t>
            </a:r>
            <a:r>
              <a:rPr sz="1500" b="0">
                <a:solidFill>
                  <a:srgbClr val="E7ECF0"/>
                </a:solidFill>
                <a:latin typeface="Segoe UI"/>
              </a:rPr>
              <a:t>Switch to the live dashboard - open High-Risk Customers.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2.  </a:t>
            </a:r>
            <a:r>
              <a:rPr sz="1500" b="0">
                <a:solidFill>
                  <a:srgbClr val="E7ECF0"/>
                </a:solidFill>
                <a:latin typeface="Segoe UI"/>
              </a:rPr>
              <a:t>Point at the ranked list: "Every one of these is a real customer, flagged by a fully explainable rule - month-to-month, under a year with us, paying above average."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3.  </a:t>
            </a:r>
            <a:r>
              <a:rPr sz="1500" b="0">
                <a:solidFill>
                  <a:srgbClr val="E7ECF0"/>
                </a:solidFill>
                <a:latin typeface="Segoe UI"/>
              </a:rPr>
              <a:t>Switch to the Retention Assistant tab.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4.  </a:t>
            </a:r>
            <a:r>
              <a:rPr sz="1500" b="0">
                <a:solidFill>
                  <a:srgbClr val="E7ECF0"/>
                </a:solidFill>
                <a:latin typeface="Segoe UI"/>
              </a:rPr>
              <a:t>Ask: "Is customer 7590-VHVEG one of our high-risk customers, and what's their predicted risk score?"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5.  </a:t>
            </a:r>
            <a:r>
              <a:rPr sz="1500" b="0">
                <a:solidFill>
                  <a:srgbClr val="E7ECF0"/>
                </a:solidFill>
                <a:latin typeface="Segoe UI"/>
              </a:rPr>
              <a:t>Let the answer render, and point at the line showing which tools produced it - don't summarize, let it speak for itself.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6.  </a:t>
            </a:r>
            <a:r>
              <a:rPr sz="1500" b="0">
                <a:solidFill>
                  <a:srgbClr val="E7ECF0"/>
                </a:solidFill>
                <a:latin typeface="Segoe UI"/>
              </a:rPr>
              <a:t>Cut back to the deck: "Every number in that answer came from the exact platform you just saw."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6B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WHY THIS EXISTS   </a:t>
            </a:r>
            <a:r>
              <a:rPr sz="26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E6C8E"/>
                </a:solidFill>
                <a:latin typeface="Segoe UI"/>
              </a:rPr>
              <a:t>Every retention team deals with the same three gaps.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500" b="0">
                <a:solidFill>
                  <a:srgbClr val="1E2830"/>
                </a:solidFill>
                <a:latin typeface="Segoe UI"/>
              </a:rPr>
              <a:t>Churn shows up in the billing system, not a warning light - teams find out after the cancellation call, not before.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500" b="0">
                <a:solidFill>
                  <a:srgbClr val="1E2830"/>
                </a:solidFill>
                <a:latin typeface="Segoe UI"/>
              </a:rPr>
              <a:t>A rule can flag a risky customer, but it can't explain the risk, compare it to a model, or answer a follow-up question.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500" b="0">
                <a:solidFill>
                  <a:srgbClr val="1E2830"/>
                </a:solidFill>
                <a:latin typeface="Segoe UI"/>
              </a:rPr>
              <a:t>Every new question means a SQL query and a wait on the data team - or it just doesn't get asked.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2E6C8E"/>
                </a:solidFill>
                <a:latin typeface="Segoe UI"/>
              </a:rPr>
              <a:t>What a retention team actually needs: a system that knows what's true about a customer, how risky they are, and what to do about it - and can explain all three without guessing.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ONE DESIGN BOUNDARY   </a:t>
            </a:r>
            <a:r>
              <a:rPr sz="2600" b="1">
                <a:solidFill>
                  <a:srgbClr val="FFFFFF"/>
                </a:solidFill>
                <a:latin typeface="Segoe UI"/>
              </a:rPr>
              <a:t>The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E6C8E"/>
                </a:solidFill>
                <a:latin typeface="Segoe UI"/>
              </a:rPr>
              <a:t>Every layer answers exactly one kind of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4206240" cy="603504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Data +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286000"/>
            <a:ext cx="6720840" cy="603504"/>
          </a:xfrm>
          <a:prstGeom prst="roundRect">
            <a:avLst/>
          </a:prstGeom>
          <a:solidFill>
            <a:srgbClr val="EEF2F5"/>
          </a:solidFill>
          <a:ln w="9525">
            <a:solidFill>
              <a:srgbClr val="2E6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0">
                <a:solidFill>
                  <a:srgbClr val="1E2830"/>
                </a:solidFill>
                <a:latin typeface="Segoe UI"/>
              </a:rPr>
              <a:t>What is true about this customer, right now?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99232"/>
            <a:ext cx="4206240" cy="603504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Machine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999232"/>
            <a:ext cx="6720840" cy="603504"/>
          </a:xfrm>
          <a:prstGeom prst="roundRect">
            <a:avLst/>
          </a:prstGeom>
          <a:solidFill>
            <a:srgbClr val="EEF2F5"/>
          </a:solidFill>
          <a:ln w="9525">
            <a:solidFill>
              <a:srgbClr val="2E6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0">
                <a:solidFill>
                  <a:srgbClr val="1E2830"/>
                </a:solidFill>
                <a:latin typeface="Segoe UI"/>
              </a:rPr>
              <a:t>How likely are they to leave?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12464"/>
            <a:ext cx="4206240" cy="603504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AI assistant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3712464"/>
            <a:ext cx="6720840" cy="603504"/>
          </a:xfrm>
          <a:prstGeom prst="roundRect">
            <a:avLst/>
          </a:prstGeom>
          <a:solidFill>
            <a:srgbClr val="EEF2F5"/>
          </a:solidFill>
          <a:ln w="9525">
            <a:solidFill>
              <a:srgbClr val="2E6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0">
                <a:solidFill>
                  <a:srgbClr val="1E2830"/>
                </a:solidFill>
                <a:latin typeface="Segoe UI"/>
              </a:rPr>
              <a:t>What does that mean, and what should we do? - grounded in real tool calls, never invented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2E6C8E"/>
                </a:solidFill>
                <a:latin typeface="Segoe UI"/>
              </a:rPr>
              <a:t>"The database tells you what's true. The model tells you how risky. The AI layer tells you what to do about it - and it never invents a customer, a number, or a reason."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FEATURE 1   </a:t>
            </a:r>
            <a:r>
              <a:rPr sz="2600" b="1">
                <a:solidFill>
                  <a:srgbClr val="FFFFFF"/>
                </a:solidFill>
                <a:latin typeface="Segoe UI"/>
              </a:rPr>
              <a:t>A Trusted Data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D7A2E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One cleaning class fixes the dataset's two real defects, once: TotalCharges stored as text with 11 blank cells, and every Yes/No column that needs to become 1/0 before a rule or a model can use it. That class is imported everywhere the data is touched again - the batch pipeline, the ML feature build - rather than re-fixed by hand each time. The result loads into a proper staging-to-curated MySQL schema: an untouched staging mirror of the source file, typed dimension and fact tables, and a rule-based high-risk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E6C8E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A dashboard, a trained model, and an AI assistant are only as honest as the data underneath them. Fixing quality problems in one reused class - not four different scripts that could quietly drift apart - means every layer of this system agrees on the same customer.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11064240" cy="73152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2E6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50" b="1">
                <a:solidFill>
                  <a:srgbClr val="2E6C8E"/>
                </a:solidFill>
                <a:latin typeface="Segoe UI"/>
              </a:rPr>
              <a:t>PROOF POINT   </a:t>
            </a:r>
            <a:r>
              <a:rPr sz="1250" b="0">
                <a:solidFill>
                  <a:srgbClr val="1E2830"/>
                </a:solidFill>
                <a:latin typeface="Segoe UI"/>
              </a:rPr>
              <a:t>7,043 customers and 21 source columns, cleaned once and loaded into a typed schema with zero manual SQL touch-up.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FEATURE 2   </a:t>
            </a:r>
            <a:r>
              <a:rPr sz="2600" b="1">
                <a:solidFill>
                  <a:srgbClr val="FFFFFF"/>
                </a:solidFill>
                <a:latin typeface="Segoe UI"/>
              </a:rPr>
              <a:t>One Governed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D7A2E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The one-off cleaning script became repeatable, quality-gated stages: schema validation against the 21 expected columns, cleaning, automated feature building, an independent PySpark recomputation of the same churn numbers to prove they hold on a different engine, incremental upsert logic so re-runs don't duplicate customers, and a programmatic PASS/FAIL quality gate - all chained into one seven-task pipeline: ingest, validate, clean, build features, score, brief, notify.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E6C8E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A number that only works when you run the notebook cells in the right order isn't a number a retention team can trust on a Tuesday morning. This pipeline is written to run itself, on a schedule, with a gate that fails loudly instead of publishing a quiet wrong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11064240" cy="73152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2E6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50" b="1">
                <a:solidFill>
                  <a:srgbClr val="2E6C8E"/>
                </a:solidFill>
                <a:latin typeface="Segoe UI"/>
              </a:rPr>
              <a:t>PROOF POINT   </a:t>
            </a:r>
            <a:r>
              <a:rPr sz="1250" b="0">
                <a:solidFill>
                  <a:srgbClr val="1E2830"/>
                </a:solidFill>
                <a:latin typeface="Segoe UI"/>
              </a:rPr>
              <a:t>Every quality check in the most recent run came back PASS - cross-checked against an independent PySpark recomputation of the same churn 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FEATURE 3   </a:t>
            </a:r>
            <a:r>
              <a:rPr sz="2600" b="1">
                <a:solidFill>
                  <a:srgbClr val="FFFFFF"/>
                </a:solidFill>
                <a:latin typeface="Segoe UI"/>
              </a:rPr>
              <a:t>Executive Churn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D7A2E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One glance answers "how exposed are we right now" - total customers, total churned, the overall churn rate, and the breakdown by contract type and by internet 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E6C8E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This is the front door for a manager who needs the headline number without writing a query - and every other feature in this deck builds on the same live data behind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FEATURE 4   </a:t>
            </a:r>
            <a:r>
              <a:rPr sz="2600" b="1">
                <a:solidFill>
                  <a:srgbClr val="FFFFFF"/>
                </a:solidFill>
                <a:latin typeface="Segoe UI"/>
              </a:rPr>
              <a:t>Find Who's At Risk,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D7A2E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A transparent rule - month-to-month contract, under 12 months' tenure, an above-average monthly bill - ranks customers into a live, sortable, pageable list, each row carrying a plain-English reason. Search any single customer by ID for their full profile: services, contract, billing, and whether they've already left.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E6C8E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No black box. A retention rep can read the rule and the number and know exactly why a name is on the list - and look up any one customer by name the moment a support call comes 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FEATURE 5   </a:t>
            </a:r>
            <a:r>
              <a:rPr sz="2600" b="1">
                <a:solidFill>
                  <a:srgbClr val="FFFFFF"/>
                </a:solidFill>
                <a:latin typeface="Segoe UI"/>
              </a:rPr>
              <a:t>Predictive Risk Scoring - Audited and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D7A2E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A trained classifier estimates each customer's probability of churning, evaluated on F1 for the churned class rather than raw accuracy - because with a 73/27 split, a model that guesses "no" for everyone would score 73% and catch nobody. Feed it a real customer ID for an exact score using their real data, or a hypothetical scenario for a live what-if.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E6C8E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We found a real bug in our own prediction code by having Claude read it, and proved the fix with a real customer, not a synthetic example. The live endpoint was quietly using only 4 of the model's 38 trained inputs - every other signal silently defaulted to zero for every customer, for every request.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3515258" cy="777240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4 / 38</a:t>
            </a:r>
          </a:p>
          <a:p>
            <a:pPr algn="ctr">
              <a:spcBef>
                <a:spcPts val="400"/>
              </a:spcBef>
            </a:pPr>
            <a:r>
              <a:rPr sz="1150" b="0">
                <a:solidFill>
                  <a:srgbClr val="C5D3DE"/>
                </a:solidFill>
                <a:latin typeface="Segoe UI"/>
              </a:rPr>
              <a:t>trained features the old code actually used - before the fix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5532120"/>
            <a:ext cx="3515258" cy="777240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45.8% → 56.5%</a:t>
            </a:r>
          </a:p>
          <a:p>
            <a:pPr algn="ctr">
              <a:spcBef>
                <a:spcPts val="400"/>
              </a:spcBef>
            </a:pPr>
            <a:r>
              <a:rPr sz="1150" b="0">
                <a:solidFill>
                  <a:srgbClr val="C5D3DE"/>
                </a:solidFill>
                <a:latin typeface="Segoe UI"/>
              </a:rPr>
              <a:t>same real customer's risk score, before vs. 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5532120"/>
            <a:ext cx="3515258" cy="777240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150" b="0">
                <a:solidFill>
                  <a:srgbClr val="C5D3DE"/>
                </a:solidFill>
                <a:latin typeface="Segoe UI"/>
              </a:rPr>
              <a:t>git commits bracketing the fix - auditable, not just claimed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FEATURE 6   </a:t>
            </a:r>
            <a:r>
              <a:rPr sz="2600" b="1">
                <a:solidFill>
                  <a:srgbClr val="FFFFFF"/>
                </a:solidFill>
                <a:latin typeface="Segoe UI"/>
              </a:rPr>
              <a:t>The Retention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D7A2E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Ask it anything, in plain language. Four tools - customer lookup, churn summary, high-risk list, live prediction - each wired straight into the same functions the dashboard and API already call, so no business logic is duplicated for the AI layer. It checks real data through a tool call before it answers anything - it never recalls a number from memory.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E6C8E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Every reply carries a visible line showing exactly which tools produced it, so an agent can trace any number back to a real query. And it's instructed to refuse a question no tool can answer - like "why do customers really leave" - rather than invent a plausible-sounding cause.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32120"/>
            <a:ext cx="11064240" cy="731520"/>
          </a:xfrm>
          <a:prstGeom prst="roundRect">
            <a:avLst/>
          </a:prstGeom>
          <a:solidFill>
            <a:srgbClr val="EEF2F5"/>
          </a:solidFill>
          <a:ln w="12700">
            <a:solidFill>
              <a:srgbClr val="2E6C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50" b="1">
                <a:solidFill>
                  <a:srgbClr val="2E6C8E"/>
                </a:solidFill>
                <a:latin typeface="Segoe UI"/>
              </a:rPr>
              <a:t>PROOF POINT   </a:t>
            </a:r>
            <a:r>
              <a:rPr sz="1250" b="0">
                <a:solidFill>
                  <a:srgbClr val="1E2830"/>
                </a:solidFill>
                <a:latin typeface="Segoe UI"/>
              </a:rPr>
              <a:t>The same four functions the React dashboard already calls become the assistant's tools - no second implementation to keep in sync.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FEATURE 7   </a:t>
            </a:r>
            <a:r>
              <a:rPr sz="2600" b="1">
                <a:solidFill>
                  <a:srgbClr val="FFFFFF"/>
                </a:solidFill>
                <a:latin typeface="Segoe UI"/>
              </a:rPr>
              <a:t>Automation: A Daily Brief and an Automatic Code Reviewer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D7A2E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Two headless uses of Claude, no chat window involved. A scheduled daily brief compares yesterday's and today's risk scores by segment and sends only the aggregated deltas - never a raw customer row - to produce one headline number, a short list of notable movements, and recommended actions. Separately, every code change is reviewed for real defects before it reaches the shared repository, wired into a git pre-push hook.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E6C8E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50" b="0">
                <a:solidFill>
                  <a:srgbClr val="1E2830"/>
                </a:solidFill>
                <a:latin typeface="Segoe UI"/>
              </a:rPr>
              <a:t>A retention team and an engineering team both get warned automatically, instead of someone having to remember to check. The daily brief only ever sees aggregated numbers - the exact same "curated evidence, not raw rows" discipline that keeps the chat assistant honest also protects what a scheduled job is allowed to see.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DD7A2E"/>
                </a:solidFill>
                <a:latin typeface="Segoe U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 Light"/>
              </a:rPr>
              <a:t>The Retention Assistant, Live (~90 sec)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1.  </a:t>
            </a:r>
            <a:r>
              <a:rPr sz="1500" b="0">
                <a:solidFill>
                  <a:srgbClr val="E7ECF0"/>
                </a:solidFill>
                <a:latin typeface="Segoe UI"/>
              </a:rPr>
              <a:t>Switch to the Retention Assistant tab.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2.  </a:t>
            </a:r>
            <a:r>
              <a:rPr sz="1500" b="0">
                <a:solidFill>
                  <a:srgbClr val="E7ECF0"/>
                </a:solidFill>
                <a:latin typeface="Segoe UI"/>
              </a:rPr>
              <a:t>Ask: "What's the overall churn rate, and how does customer 9237-HQITU's predicted risk compare to that average?"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3.  </a:t>
            </a:r>
            <a:r>
              <a:rPr sz="1500" b="0">
                <a:solidFill>
                  <a:srgbClr val="E7ECF0"/>
                </a:solidFill>
                <a:latin typeface="Segoe UI"/>
              </a:rPr>
              <a:t>Narrate as it runs: "Watch - it calls the summary tool and the prediction tool, in the same turn, before it says a word."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4.  </a:t>
            </a:r>
            <a:r>
              <a:rPr sz="1500" b="0">
                <a:solidFill>
                  <a:srgbClr val="E7ECF0"/>
                </a:solidFill>
                <a:latin typeface="Segoe UI"/>
              </a:rPr>
              <a:t>Point at the tools-used line under the answer.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5.  </a:t>
            </a:r>
            <a:r>
              <a:rPr sz="1500" b="0">
                <a:solidFill>
                  <a:srgbClr val="E7ECF0"/>
                </a:solidFill>
                <a:latin typeface="Segoe UI"/>
              </a:rPr>
              <a:t>Ask a second, harder one: "Customer 3668-QPYBK has a month-to-month contract. What would their churn risk look like on a two-year contract instead?"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6.  </a:t>
            </a:r>
            <a:r>
              <a:rPr sz="1500" b="0">
                <a:solidFill>
                  <a:srgbClr val="E7ECF0"/>
                </a:solidFill>
                <a:latin typeface="Segoe UI"/>
              </a:rPr>
              <a:t>Return to slides: "Nothing here was invented - every number came from a real tool call into the platform you've been watching."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FA6B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RIGOR   </a:t>
            </a:r>
            <a:r>
              <a:rPr sz="2600" b="1">
                <a:solidFill>
                  <a:srgbClr val="FFFFFF"/>
                </a:solidFill>
                <a:latin typeface="Segoe UI"/>
              </a:rPr>
              <a:t>Why You Can Trust Every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400" b="0">
                <a:solidFill>
                  <a:srgbClr val="1E2830"/>
                </a:solidFill>
                <a:latin typeface="Segoe UI"/>
              </a:rPr>
              <a:t>Every reply is graded against a 15-question evaluation set - five answerable with one tool, five needing two tools together, and five genuinely unanswerable, specifically to check it refuses instead of inventing an answer.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400" b="0">
                <a:solidFill>
                  <a:srgbClr val="1E2830"/>
                </a:solidFill>
                <a:latin typeface="Segoe UI"/>
              </a:rPr>
              <a:t>Every tool argument is validated against a strict schema before it ever reaches a database query.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400" b="0">
                <a:solidFill>
                  <a:srgbClr val="1E2830"/>
                </a:solidFill>
                <a:latin typeface="Segoe UI"/>
              </a:rPr>
              <a:t>A secret-leakage guard blocks any outbound prompt that contains a credential - called on every single Claude request in the system, not only the chat endpoint.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400" b="0">
                <a:solidFill>
                  <a:srgbClr val="1E2830"/>
                </a:solidFill>
                <a:latin typeface="Segoe UI"/>
              </a:rPr>
              <a:t>Every conversation - question, tools called, tokens used - is written to a permanent audit log.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400" b="0">
                <a:solidFill>
                  <a:srgbClr val="1E2830"/>
                </a:solidFill>
                <a:latin typeface="Segoe UI"/>
              </a:rPr>
              <a:t>The assistant is capped on every axis that matters: response length, conversation history, and how many tool round-trips one question can trigger.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BY THE NUMBERS   </a:t>
            </a:r>
            <a:r>
              <a:rPr sz="2600" b="1">
                <a:solidFill>
                  <a:srgbClr val="FFFFFF"/>
                </a:solidFill>
                <a:latin typeface="Segoe UI"/>
              </a:rPr>
              <a:t>The Scale,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515258" cy="1691640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7,043</a:t>
            </a:r>
          </a:p>
          <a:p>
            <a:pPr algn="ctr">
              <a:spcBef>
                <a:spcPts val="400"/>
              </a:spcBef>
            </a:pPr>
            <a:r>
              <a:rPr sz="1150" b="0">
                <a:solidFill>
                  <a:srgbClr val="C5D3DE"/>
                </a:solidFill>
                <a:latin typeface="Segoe UI"/>
              </a:rPr>
              <a:t>customers modeled, 21 source columns cleaned into one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2194560"/>
            <a:ext cx="3515258" cy="1691640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4</a:t>
            </a:r>
          </a:p>
          <a:p>
            <a:pPr algn="ctr">
              <a:spcBef>
                <a:spcPts val="400"/>
              </a:spcBef>
            </a:pPr>
            <a:r>
              <a:rPr sz="1150" b="0">
                <a:solidFill>
                  <a:srgbClr val="C5D3DE"/>
                </a:solidFill>
                <a:latin typeface="Segoe UI"/>
              </a:rPr>
              <a:t>live AI tools wired to the real API - no duplicated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796" y="2194560"/>
            <a:ext cx="3515258" cy="1691640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15</a:t>
            </a:r>
          </a:p>
          <a:p>
            <a:pPr algn="ctr">
              <a:spcBef>
                <a:spcPts val="400"/>
              </a:spcBef>
            </a:pPr>
            <a:r>
              <a:rPr sz="1150" b="0">
                <a:solidFill>
                  <a:srgbClr val="C5D3DE"/>
                </a:solidFill>
                <a:latin typeface="Segoe UI"/>
              </a:rPr>
              <a:t>evaluation questions, scored on 3 separate rates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3515258" cy="1691640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F1 ≈ 0.57-0.58</a:t>
            </a:r>
          </a:p>
          <a:p>
            <a:pPr algn="ctr">
              <a:spcBef>
                <a:spcPts val="400"/>
              </a:spcBef>
            </a:pPr>
            <a:r>
              <a:rPr sz="1150" b="0">
                <a:solidFill>
                  <a:srgbClr val="C5D3DE"/>
                </a:solidFill>
                <a:latin typeface="Segoe UI"/>
              </a:rPr>
              <a:t>on the churned class - the honest metric for a 73/27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4114800"/>
            <a:ext cx="3515258" cy="1691640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7</a:t>
            </a:r>
          </a:p>
          <a:p>
            <a:pPr algn="ctr">
              <a:spcBef>
                <a:spcPts val="400"/>
              </a:spcBef>
            </a:pPr>
            <a:r>
              <a:rPr sz="1150" b="0">
                <a:solidFill>
                  <a:srgbClr val="C5D3DE"/>
                </a:solidFill>
                <a:latin typeface="Segoe UI"/>
              </a:rPr>
              <a:t>pipeline tasks, one quality gate, one PySpark cross-check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4114800"/>
            <a:ext cx="3515258" cy="1691640"/>
          </a:xfrm>
          <a:prstGeom prst="round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  <a:p>
            <a:pPr algn="ctr">
              <a:spcBef>
                <a:spcPts val="400"/>
              </a:spcBef>
            </a:pPr>
            <a:r>
              <a:rPr sz="1150" b="0">
                <a:solidFill>
                  <a:srgbClr val="C5D3DE"/>
                </a:solidFill>
                <a:latin typeface="Segoe UI"/>
              </a:rPr>
              <a:t>headless Claude jobs - a daily brief and an automatic code reviewer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DD7A2E"/>
                </a:solidFill>
                <a:latin typeface="Segoe UI"/>
              </a:rPr>
              <a:t>ROADMAP   </a:t>
            </a:r>
            <a:r>
              <a:rPr sz="2600" b="1">
                <a:solidFill>
                  <a:srgbClr val="FFFFFF"/>
                </a:solidFill>
                <a:latin typeface="Segoe UI"/>
              </a:rPr>
              <a:t>Where This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3626E"/>
                </a:solidFill>
                <a:latin typeface="Segoe UI"/>
              </a:rPr>
              <a:t>Retention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3626E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500" b="0">
                <a:solidFill>
                  <a:srgbClr val="1E2830"/>
                </a:solidFill>
                <a:latin typeface="Segoe UI"/>
              </a:rPr>
              <a:t>Put the seven-task pipeline DAG onto a live scheduler - the orchestration code is written and ready; a running Airflow instance is the next step.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500" b="0">
                <a:solidFill>
                  <a:srgbClr val="1E2830"/>
                </a:solidFill>
                <a:latin typeface="Segoe UI"/>
              </a:rPr>
              <a:t>Add per-customer authorization so the assistant's reach matches who's allowed to see what.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500" b="0">
                <a:solidFill>
                  <a:srgbClr val="1E2830"/>
                </a:solidFill>
                <a:latin typeface="Segoe UI"/>
              </a:rPr>
              <a:t>Run the full two-model evaluation (fast vs. strongest) to lock in a production cost/quality choice with real measured numbers.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DD7A2E"/>
                </a:solidFill>
                <a:latin typeface="Segoe UI"/>
              </a:rPr>
              <a:t>•  </a:t>
            </a:r>
            <a:r>
              <a:rPr sz="1500" b="0">
                <a:solidFill>
                  <a:srgbClr val="1E2830"/>
                </a:solidFill>
                <a:latin typeface="Segoe UI"/>
              </a:rPr>
              <a:t>Put the daily brief on a real schedule the moment the DAG is live, instead of running it by hand.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09728" cy="2194560"/>
          </a:xfrm>
          <a:prstGeom prst="rect">
            <a:avLst/>
          </a:prstGeom>
          <a:solidFill>
            <a:srgbClr val="DD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10058400" cy="2560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 Light"/>
              </a:rPr>
              <a:t>The database tells you what's true.
The model tells you how risky.
The AI layer tells you what to do about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7548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C5D3DE"/>
                </a:solidFill>
                <a:latin typeface="Segoe UI"/>
              </a:rPr>
              <a:t>Retention Intelligence - 26% of your customers are already telling you they might leave.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669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D7A2E"/>
                </a:solidFill>
                <a:latin typeface="Segoe UI"/>
              </a:rP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