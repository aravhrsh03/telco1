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737360"/>
            <a:ext cx="10362895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 i="0">
                <a:solidFill>
                  <a:srgbClr val="33D6C6"/>
                </a:solidFill>
                <a:latin typeface="Consolas"/>
              </a:rPr>
              <a:t>PRODUCT WALKTHROUGH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286000"/>
            <a:ext cx="10362895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5400" b="1" i="0">
                <a:solidFill>
                  <a:srgbClr val="EEF3F5"/>
                </a:solidFill>
                <a:latin typeface="Segoe UI Semibold"/>
              </a:rPr>
              <a:t>Retention Intelligence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0" y="3566160"/>
            <a:ext cx="8534095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2000" b="0" i="0">
                <a:solidFill>
                  <a:srgbClr val="9FB0B8"/>
                </a:solidFill>
                <a:latin typeface="Segoe UI"/>
              </a:rPr>
              <a:t>Turn churn data into a conversation — and a conversation into action.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5120640"/>
            <a:ext cx="10362895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0" i="0">
                <a:solidFill>
                  <a:srgbClr val="5F717A"/>
                </a:solidFill>
                <a:latin typeface="Consolas"/>
              </a:rPr>
              <a:t>IBM / Telco Customer Churn  ·  7,043 customers  ·  live system, not a mockup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731520"/>
            <a:ext cx="10362895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 i="0">
                <a:solidFill>
                  <a:srgbClr val="33D6C6"/>
                </a:solidFill>
                <a:latin typeface="Consolas"/>
              </a:rPr>
              <a:t>THE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371600"/>
            <a:ext cx="10362895" cy="2011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0" b="1" i="0">
                <a:solidFill>
                  <a:srgbClr val="FF8A5C"/>
                </a:solidFill>
                <a:latin typeface="Segoe UI Semibold"/>
              </a:rPr>
              <a:t>26.5%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0" y="3429000"/>
            <a:ext cx="8534095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2200" b="0" i="0">
                <a:solidFill>
                  <a:srgbClr val="9FB0B8"/>
                </a:solidFill>
                <a:latin typeface="Segoe UI"/>
              </a:rPr>
              <a:t>of this operator's customers churn — better than one in four, gone.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3200400" y="4343400"/>
            <a:ext cx="5760720" cy="0"/>
          </a:xfrm>
          <a:prstGeom prst="line">
            <a:avLst/>
          </a:prstGeom>
          <a:ln w="12700">
            <a:solidFill>
              <a:srgbClr val="2230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2468880" y="4480560"/>
            <a:ext cx="7253935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0" i="0">
                <a:solidFill>
                  <a:srgbClr val="5F717A"/>
                </a:solidFill>
                <a:latin typeface="Segoe UI"/>
              </a:rPr>
              <a:t>Winning a customer back costs several times more than keeping one. The question was never “can we survive churn” — it's “do we see it coming.”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822960"/>
            <a:ext cx="10362895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3400" b="1" i="0">
                <a:solidFill>
                  <a:srgbClr val="EEF3F5"/>
                </a:solidFill>
                <a:latin typeface="Segoe UI Semibold"/>
              </a:rPr>
              <a:t>Three ways teams miss it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92327" y="2834640"/>
            <a:ext cx="3291840" cy="2377440"/>
          </a:xfrm>
          <a:prstGeom prst="roundRect">
            <a:avLst>
              <a:gd name="adj" fmla="val 8000"/>
            </a:avLst>
          </a:prstGeom>
          <a:solidFill>
            <a:srgbClr val="121A22"/>
          </a:solidFill>
          <a:ln w="12700">
            <a:solidFill>
              <a:srgbClr val="2230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 tIns="164592"/>
          <a:lstStyle/>
          <a:p>
            <a:pPr algn="l"/>
            <a:r>
              <a:rPr sz="1300" b="1">
                <a:solidFill>
                  <a:srgbClr val="33D6C6"/>
                </a:solidFill>
                <a:latin typeface="Consolas"/>
              </a:rPr>
              <a:t>01</a:t>
            </a:r>
          </a:p>
          <a:p>
            <a:pPr algn="l"/>
            <a:r>
              <a:rPr sz="1600" b="0">
                <a:solidFill>
                  <a:srgbClr val="EEF3F5"/>
                </a:solidFill>
                <a:latin typeface="Segoe UI"/>
              </a:rPr>
              <a:t>They find out after the cancellation, not before.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449927" y="2834640"/>
            <a:ext cx="3291840" cy="2377440"/>
          </a:xfrm>
          <a:prstGeom prst="roundRect">
            <a:avLst>
              <a:gd name="adj" fmla="val 8000"/>
            </a:avLst>
          </a:prstGeom>
          <a:solidFill>
            <a:srgbClr val="121A22"/>
          </a:solidFill>
          <a:ln w="12700">
            <a:solidFill>
              <a:srgbClr val="2230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 tIns="164592"/>
          <a:lstStyle/>
          <a:p>
            <a:pPr algn="l"/>
            <a:r>
              <a:rPr sz="1300" b="1">
                <a:solidFill>
                  <a:srgbClr val="33D6C6"/>
                </a:solidFill>
                <a:latin typeface="Consolas"/>
              </a:rPr>
              <a:t>02</a:t>
            </a:r>
          </a:p>
          <a:p>
            <a:pPr algn="l"/>
            <a:r>
              <a:rPr sz="1600" b="0">
                <a:solidFill>
                  <a:srgbClr val="EEF3F5"/>
                </a:solidFill>
                <a:latin typeface="Segoe UI"/>
              </a:rPr>
              <a:t>No ranked list of who's actually at risk today.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107527" y="2834640"/>
            <a:ext cx="3291840" cy="2377440"/>
          </a:xfrm>
          <a:prstGeom prst="roundRect">
            <a:avLst>
              <a:gd name="adj" fmla="val 8000"/>
            </a:avLst>
          </a:prstGeom>
          <a:solidFill>
            <a:srgbClr val="121A22"/>
          </a:solidFill>
          <a:ln w="12700">
            <a:solidFill>
              <a:srgbClr val="2230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 tIns="164592"/>
          <a:lstStyle/>
          <a:p>
            <a:pPr algn="l"/>
            <a:r>
              <a:rPr sz="1300" b="1">
                <a:solidFill>
                  <a:srgbClr val="33D6C6"/>
                </a:solidFill>
                <a:latin typeface="Consolas"/>
              </a:rPr>
              <a:t>03</a:t>
            </a:r>
          </a:p>
          <a:p>
            <a:pPr algn="l"/>
            <a:r>
              <a:rPr sz="1600" b="0">
                <a:solidFill>
                  <a:srgbClr val="EEF3F5"/>
                </a:solidFill>
                <a:latin typeface="Segoe UI"/>
              </a:rPr>
              <a:t>Every question means a SQL query and a wait on the data team.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463040"/>
            <a:ext cx="10362895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 i="0">
                <a:solidFill>
                  <a:srgbClr val="33D6C6"/>
                </a:solidFill>
                <a:latin typeface="Consolas"/>
              </a:rPr>
              <a:t>THE ANSWER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2103120"/>
            <a:ext cx="9997135" cy="1645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4000" b="1" i="0">
                <a:solidFill>
                  <a:srgbClr val="EEF3F5"/>
                </a:solidFill>
                <a:latin typeface="Segoe UI Semibold"/>
              </a:rPr>
              <a:t>One pipeline. One API. One conversation.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0" y="3840480"/>
            <a:ext cx="8534095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800" b="0" i="0">
                <a:solidFill>
                  <a:srgbClr val="9FB0B8"/>
                </a:solidFill>
                <a:latin typeface="Segoe UI"/>
              </a:rPr>
              <a:t>A single system, from a raw customer extract to a trained model to a retention analyst you can talk to.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548640"/>
            <a:ext cx="10362895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 i="0">
                <a:solidFill>
                  <a:srgbClr val="33D6C6"/>
                </a:solidFill>
                <a:latin typeface="Consolas"/>
              </a:rPr>
              <a:t>HOW IT'S BUILT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960120"/>
            <a:ext cx="10362895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3000" b="1" i="0">
                <a:solidFill>
                  <a:srgbClr val="EEF3F5"/>
                </a:solidFill>
                <a:latin typeface="Segoe UI Semibold"/>
              </a:rPr>
              <a:t>One pipeline, end to end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1097280" y="3017520"/>
            <a:ext cx="9997135" cy="0"/>
          </a:xfrm>
          <a:prstGeom prst="line">
            <a:avLst/>
          </a:prstGeom>
          <a:ln w="25400">
            <a:solidFill>
              <a:srgbClr val="2230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Oval 5"/>
          <p:cNvSpPr/>
          <p:nvPr/>
        </p:nvSpPr>
        <p:spPr>
          <a:xfrm>
            <a:off x="1014984" y="2935224"/>
            <a:ext cx="164592" cy="164592"/>
          </a:xfrm>
          <a:prstGeom prst="ellipse">
            <a:avLst/>
          </a:prstGeom>
          <a:solidFill>
            <a:srgbClr val="33D6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82880" y="2331720"/>
            <a:ext cx="1828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500" b="1" i="0">
                <a:solidFill>
                  <a:srgbClr val="EEF3F5"/>
                </a:solidFill>
                <a:latin typeface="Segoe UI Semibold"/>
              </a:rPr>
              <a:t>Raw Data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" y="3200400"/>
            <a:ext cx="1828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0" i="0">
                <a:solidFill>
                  <a:srgbClr val="9FB0B8"/>
                </a:solidFill>
                <a:latin typeface="Consolas"/>
              </a:rPr>
              <a:t>7,043 rows</a:t>
            </a:r>
          </a:p>
        </p:txBody>
      </p:sp>
      <p:sp>
        <p:nvSpPr>
          <p:cNvPr id="9" name="Oval 8"/>
          <p:cNvSpPr/>
          <p:nvPr/>
        </p:nvSpPr>
        <p:spPr>
          <a:xfrm>
            <a:off x="3514267" y="2935224"/>
            <a:ext cx="164592" cy="164592"/>
          </a:xfrm>
          <a:prstGeom prst="ellipse">
            <a:avLst/>
          </a:prstGeom>
          <a:solidFill>
            <a:srgbClr val="33D6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682163" y="2331720"/>
            <a:ext cx="1828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500" b="1" i="0">
                <a:solidFill>
                  <a:srgbClr val="EEF3F5"/>
                </a:solidFill>
                <a:latin typeface="Segoe UI Semibold"/>
              </a:rPr>
              <a:t>Cleaned + DB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682163" y="3200400"/>
            <a:ext cx="1828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0" i="0">
                <a:solidFill>
                  <a:srgbClr val="9FB0B8"/>
                </a:solidFill>
                <a:latin typeface="Consolas"/>
              </a:rPr>
              <a:t>MySQL</a:t>
            </a:r>
          </a:p>
        </p:txBody>
      </p:sp>
      <p:sp>
        <p:nvSpPr>
          <p:cNvPr id="12" name="Oval 11"/>
          <p:cNvSpPr/>
          <p:nvPr/>
        </p:nvSpPr>
        <p:spPr>
          <a:xfrm>
            <a:off x="6013551" y="2935224"/>
            <a:ext cx="164592" cy="164592"/>
          </a:xfrm>
          <a:prstGeom prst="ellipse">
            <a:avLst/>
          </a:prstGeom>
          <a:solidFill>
            <a:srgbClr val="33D6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181447" y="2331720"/>
            <a:ext cx="1828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500" b="1" i="0">
                <a:solidFill>
                  <a:srgbClr val="EEF3F5"/>
                </a:solidFill>
                <a:latin typeface="Segoe UI Semibold"/>
              </a:rPr>
              <a:t>ML Model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181447" y="3200400"/>
            <a:ext cx="1828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0" i="0">
                <a:solidFill>
                  <a:srgbClr val="9FB0B8"/>
                </a:solidFill>
                <a:latin typeface="Consolas"/>
              </a:rPr>
              <a:t>F1 ≈ 0.58</a:t>
            </a:r>
          </a:p>
        </p:txBody>
      </p:sp>
      <p:sp>
        <p:nvSpPr>
          <p:cNvPr id="15" name="Oval 14"/>
          <p:cNvSpPr/>
          <p:nvPr/>
        </p:nvSpPr>
        <p:spPr>
          <a:xfrm>
            <a:off x="8512835" y="2935224"/>
            <a:ext cx="164592" cy="164592"/>
          </a:xfrm>
          <a:prstGeom prst="ellipse">
            <a:avLst/>
          </a:prstGeom>
          <a:solidFill>
            <a:srgbClr val="33D6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680731" y="2331720"/>
            <a:ext cx="1828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500" b="1" i="0">
                <a:solidFill>
                  <a:srgbClr val="EEF3F5"/>
                </a:solidFill>
                <a:latin typeface="Segoe UI Semibold"/>
              </a:rPr>
              <a:t>API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680731" y="3200400"/>
            <a:ext cx="1828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0" i="0">
                <a:solidFill>
                  <a:srgbClr val="9FB0B8"/>
                </a:solidFill>
                <a:latin typeface="Consolas"/>
              </a:rPr>
              <a:t>FastAPI</a:t>
            </a:r>
          </a:p>
        </p:txBody>
      </p:sp>
      <p:sp>
        <p:nvSpPr>
          <p:cNvPr id="18" name="Oval 17"/>
          <p:cNvSpPr/>
          <p:nvPr/>
        </p:nvSpPr>
        <p:spPr>
          <a:xfrm>
            <a:off x="11012119" y="2935224"/>
            <a:ext cx="164592" cy="164592"/>
          </a:xfrm>
          <a:prstGeom prst="ellipse">
            <a:avLst/>
          </a:prstGeom>
          <a:solidFill>
            <a:srgbClr val="33D6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180015" y="2331720"/>
            <a:ext cx="1828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500" b="1" i="0">
                <a:solidFill>
                  <a:srgbClr val="EEF3F5"/>
                </a:solidFill>
                <a:latin typeface="Segoe UI Semibold"/>
              </a:rPr>
              <a:t>Dashboard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180015" y="3200400"/>
            <a:ext cx="1828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0" i="0">
                <a:solidFill>
                  <a:srgbClr val="9FB0B8"/>
                </a:solidFill>
                <a:latin typeface="Consolas"/>
              </a:rPr>
              <a:t>React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8595131.25" y="3127248"/>
            <a:ext cx="2499283.75" cy="1719072"/>
          </a:xfrm>
          <a:prstGeom prst="line">
            <a:avLst/>
          </a:prstGeom>
          <a:ln w="25400">
            <a:solidFill>
              <a:srgbClr val="FF8A5C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Oval 21"/>
          <p:cNvSpPr/>
          <p:nvPr/>
        </p:nvSpPr>
        <p:spPr>
          <a:xfrm>
            <a:off x="11012119" y="4764024"/>
            <a:ext cx="164592" cy="164592"/>
          </a:xfrm>
          <a:prstGeom prst="ellipse">
            <a:avLst/>
          </a:prstGeom>
          <a:solidFill>
            <a:srgbClr val="FF8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1231575" y="4617720"/>
            <a:ext cx="23774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FF8A5C"/>
                </a:solidFill>
                <a:latin typeface="Segoe UI Semibold"/>
              </a:rPr>
              <a:t>AI Assistant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231575" y="4983480"/>
            <a:ext cx="25603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FF8A5C"/>
                </a:solidFill>
                <a:latin typeface="Consolas"/>
              </a:rPr>
              <a:t>new — same API, as tools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727448" y="1005840"/>
            <a:ext cx="2743200" cy="502920"/>
          </a:xfrm>
          <a:prstGeom prst="roundRect">
            <a:avLst>
              <a:gd name="adj" fmla="val 50000"/>
            </a:avLst>
          </a:prstGeom>
          <a:solidFill>
            <a:srgbClr val="33D6C6"/>
          </a:solidFill>
          <a:ln w="12700">
            <a:solidFill>
              <a:srgbClr val="33D6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 tIns="73152"/>
          <a:lstStyle/>
          <a:p>
            <a:pPr algn="ctr"/>
            <a:r>
              <a:rPr sz="1500" b="1">
                <a:solidFill>
                  <a:srgbClr val="0B0F14"/>
                </a:solidFill>
                <a:latin typeface="Consolas"/>
              </a:rPr>
              <a:t>LIVE DEMO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10362895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3600" b="1" i="0">
                <a:solidFill>
                  <a:srgbClr val="EEF3F5"/>
                </a:solidFill>
                <a:latin typeface="Segoe UI Semibold"/>
              </a:rPr>
              <a:t>Executive Summary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743200"/>
            <a:ext cx="10362895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500" b="0" i="0">
                <a:solidFill>
                  <a:srgbClr val="5F717A"/>
                </a:solidFill>
                <a:latin typeface="Consolas"/>
              </a:rPr>
              <a:t>→ switch to the Churn Summary tab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3474720"/>
            <a:ext cx="9448495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700" b="0" i="0">
                <a:solidFill>
                  <a:srgbClr val="94F5EA"/>
                </a:solidFill>
                <a:latin typeface="Consolas"/>
              </a:rPr>
              <a:t>Month-to-month: 42.7% churn   ·   Two-year: 2.8% churn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727448" y="1005840"/>
            <a:ext cx="2743200" cy="502920"/>
          </a:xfrm>
          <a:prstGeom prst="roundRect">
            <a:avLst>
              <a:gd name="adj" fmla="val 50000"/>
            </a:avLst>
          </a:prstGeom>
          <a:solidFill>
            <a:srgbClr val="33D6C6"/>
          </a:solidFill>
          <a:ln w="12700">
            <a:solidFill>
              <a:srgbClr val="33D6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 tIns="73152"/>
          <a:lstStyle/>
          <a:p>
            <a:pPr algn="ctr"/>
            <a:r>
              <a:rPr sz="1500" b="1">
                <a:solidFill>
                  <a:srgbClr val="0B0F14"/>
                </a:solidFill>
                <a:latin typeface="Consolas"/>
              </a:rPr>
              <a:t>LIVE DEMO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10362895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3600" b="1" i="0">
                <a:solidFill>
                  <a:srgbClr val="EEF3F5"/>
                </a:solidFill>
                <a:latin typeface="Segoe UI Semibold"/>
              </a:rPr>
              <a:t>Find Who's At Risk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743200"/>
            <a:ext cx="10362895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500" b="0" i="0">
                <a:solidFill>
                  <a:srgbClr val="5F717A"/>
                </a:solidFill>
                <a:latin typeface="Consolas"/>
              </a:rPr>
              <a:t>→ switch to the High-Risk Customers tab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3474720"/>
            <a:ext cx="9448495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700" b="0" i="0">
                <a:solidFill>
                  <a:srgbClr val="94F5EA"/>
                </a:solidFill>
                <a:latin typeface="Consolas"/>
              </a:rPr>
              <a:t>Rule: month-to-month + tenure &lt; 12 + above-average bill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727448" y="1005840"/>
            <a:ext cx="2743200" cy="502920"/>
          </a:xfrm>
          <a:prstGeom prst="roundRect">
            <a:avLst>
              <a:gd name="adj" fmla="val 50000"/>
            </a:avLst>
          </a:prstGeom>
          <a:solidFill>
            <a:srgbClr val="33D6C6"/>
          </a:solidFill>
          <a:ln w="12700">
            <a:solidFill>
              <a:srgbClr val="33D6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 tIns="73152"/>
          <a:lstStyle/>
          <a:p>
            <a:pPr algn="ctr"/>
            <a:r>
              <a:rPr sz="1500" b="1">
                <a:solidFill>
                  <a:srgbClr val="0B0F14"/>
                </a:solidFill>
                <a:latin typeface="Consolas"/>
              </a:rPr>
              <a:t>LIVE DEMO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10362895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3600" b="1" i="0">
                <a:solidFill>
                  <a:srgbClr val="EEF3F5"/>
                </a:solidFill>
                <a:latin typeface="Segoe UI Semibold"/>
              </a:rPr>
              <a:t>What-If Prediction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743200"/>
            <a:ext cx="10362895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500" b="0" i="0">
                <a:solidFill>
                  <a:srgbClr val="5F717A"/>
                </a:solidFill>
                <a:latin typeface="Consolas"/>
              </a:rPr>
              <a:t>→ switch to the Churn Prediction tab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3474720"/>
            <a:ext cx="9448495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700" b="0" i="0">
                <a:solidFill>
                  <a:srgbClr val="94F5EA"/>
                </a:solidFill>
                <a:latin typeface="Consolas"/>
              </a:rPr>
              <a:t>Type in a scenario. Get a live, color-coded risk score.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463040"/>
            <a:ext cx="10362895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 i="0">
                <a:solidFill>
                  <a:srgbClr val="33D6C6"/>
                </a:solidFill>
                <a:latin typeface="Consolas"/>
              </a:rPr>
              <a:t>THE DIFFERENTIATOR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2103120"/>
            <a:ext cx="9997135" cy="1645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4000" b="1" i="0">
                <a:solidFill>
                  <a:srgbClr val="EEF3F5"/>
                </a:solidFill>
                <a:latin typeface="Segoe UI Semibold"/>
              </a:rPr>
              <a:t>Now, ask it anything.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0" y="3840480"/>
            <a:ext cx="8534095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800" b="0" i="0">
                <a:solidFill>
                  <a:srgbClr val="9FB0B8"/>
                </a:solidFill>
                <a:latin typeface="Segoe UI"/>
              </a:rPr>
              <a:t>You no longer need to know which tab has the answer.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727448" y="1005840"/>
            <a:ext cx="2743200" cy="502920"/>
          </a:xfrm>
          <a:prstGeom prst="roundRect">
            <a:avLst>
              <a:gd name="adj" fmla="val 50000"/>
            </a:avLst>
          </a:prstGeom>
          <a:solidFill>
            <a:srgbClr val="33D6C6"/>
          </a:solidFill>
          <a:ln w="12700">
            <a:solidFill>
              <a:srgbClr val="33D6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 tIns="73152"/>
          <a:lstStyle/>
          <a:p>
            <a:pPr algn="ctr"/>
            <a:r>
              <a:rPr sz="1500" b="1">
                <a:solidFill>
                  <a:srgbClr val="0B0F14"/>
                </a:solidFill>
                <a:latin typeface="Consolas"/>
              </a:rPr>
              <a:t>LIVE DEMO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10362895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3600" b="1" i="0">
                <a:solidFill>
                  <a:srgbClr val="EEF3F5"/>
                </a:solidFill>
                <a:latin typeface="Segoe UI Semibold"/>
              </a:rPr>
              <a:t>The Retention Assistant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743200"/>
            <a:ext cx="10362895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500" b="0" i="0">
                <a:solidFill>
                  <a:srgbClr val="5F717A"/>
                </a:solidFill>
                <a:latin typeface="Consolas"/>
              </a:rPr>
              <a:t>→ switch to the Retention Assistant tab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775307" y="3657600"/>
            <a:ext cx="4206240" cy="502920"/>
          </a:xfrm>
          <a:prstGeom prst="roundRect">
            <a:avLst>
              <a:gd name="adj" fmla="val 50000"/>
            </a:avLst>
          </a:prstGeom>
          <a:solidFill>
            <a:srgbClr val="121A22"/>
          </a:solidFill>
          <a:ln w="12700">
            <a:solidFill>
              <a:srgbClr val="2230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 tIns="109728"/>
          <a:lstStyle/>
          <a:p>
            <a:pPr algn="ctr"/>
            <a:r>
              <a:rPr sz="1200" b="0">
                <a:solidFill>
                  <a:srgbClr val="9FB0B8"/>
                </a:solidFill>
                <a:latin typeface="Segoe UI"/>
              </a:rPr>
              <a:t>“What's our overall churn rate?”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0147" y="3657600"/>
            <a:ext cx="4206240" cy="502920"/>
          </a:xfrm>
          <a:prstGeom prst="roundRect">
            <a:avLst>
              <a:gd name="adj" fmla="val 50000"/>
            </a:avLst>
          </a:prstGeom>
          <a:solidFill>
            <a:srgbClr val="121A22"/>
          </a:solidFill>
          <a:ln w="12700">
            <a:solidFill>
              <a:srgbClr val="2230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 tIns="109728"/>
          <a:lstStyle/>
          <a:p>
            <a:pPr algn="ctr"/>
            <a:r>
              <a:rPr sz="1200" b="0">
                <a:solidFill>
                  <a:srgbClr val="9FB0B8"/>
                </a:solidFill>
                <a:latin typeface="Segoe UI"/>
              </a:rPr>
              <a:t>“Is 7590-VHVEG high-risk, and what's their score?”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777240"/>
            <a:ext cx="10362895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3200" b="1" i="0">
                <a:solidFill>
                  <a:srgbClr val="EEF3F5"/>
                </a:solidFill>
                <a:latin typeface="Segoe UI Semibold"/>
              </a:rPr>
              <a:t>Why you can trust the answer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163927" y="2011680"/>
            <a:ext cx="7863840" cy="1005840"/>
          </a:xfrm>
          <a:prstGeom prst="roundRect">
            <a:avLst>
              <a:gd name="adj" fmla="val 8000"/>
            </a:avLst>
          </a:prstGeom>
          <a:solidFill>
            <a:srgbClr val="121A22"/>
          </a:solidFill>
          <a:ln w="12700">
            <a:solidFill>
              <a:srgbClr val="2230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l"/>
            <a:r>
              <a:rPr sz="1400" b="1">
                <a:solidFill>
                  <a:srgbClr val="33D6C6"/>
                </a:solidFill>
                <a:latin typeface="Consolas"/>
              </a:rPr>
              <a:t>01   </a:t>
            </a:r>
            <a:r>
              <a:rPr sz="1600">
                <a:solidFill>
                  <a:srgbClr val="EEF3F5"/>
                </a:solidFill>
                <a:latin typeface="Segoe UI"/>
              </a:rPr>
              <a:t>Every number it states comes from a real tool call — never invented.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163927" y="3218688"/>
            <a:ext cx="7863840" cy="1005840"/>
          </a:xfrm>
          <a:prstGeom prst="roundRect">
            <a:avLst>
              <a:gd name="adj" fmla="val 8000"/>
            </a:avLst>
          </a:prstGeom>
          <a:solidFill>
            <a:srgbClr val="121A22"/>
          </a:solidFill>
          <a:ln w="12700">
            <a:solidFill>
              <a:srgbClr val="2230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l"/>
            <a:r>
              <a:rPr sz="1400" b="1">
                <a:solidFill>
                  <a:srgbClr val="33D6C6"/>
                </a:solidFill>
                <a:latin typeface="Consolas"/>
              </a:rPr>
              <a:t>02   </a:t>
            </a:r>
            <a:r>
              <a:rPr sz="1600">
                <a:solidFill>
                  <a:srgbClr val="EEF3F5"/>
                </a:solidFill>
                <a:latin typeface="Segoe UI"/>
              </a:rPr>
              <a:t>It can't dump your whole customer list, and won't claim a cause your data doesn't support.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163927" y="4425696"/>
            <a:ext cx="7863840" cy="1005840"/>
          </a:xfrm>
          <a:prstGeom prst="roundRect">
            <a:avLst>
              <a:gd name="adj" fmla="val 8000"/>
            </a:avLst>
          </a:prstGeom>
          <a:solidFill>
            <a:srgbClr val="121A22"/>
          </a:solidFill>
          <a:ln w="12700">
            <a:solidFill>
              <a:srgbClr val="2230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l"/>
            <a:r>
              <a:rPr sz="1400" b="1">
                <a:solidFill>
                  <a:srgbClr val="33D6C6"/>
                </a:solidFill>
                <a:latin typeface="Consolas"/>
              </a:rPr>
              <a:t>03   </a:t>
            </a:r>
            <a:r>
              <a:rPr sz="1600">
                <a:solidFill>
                  <a:srgbClr val="EEF3F5"/>
                </a:solidFill>
                <a:latin typeface="Segoe UI"/>
              </a:rPr>
              <a:t>Every conversation is written to an audit log — question, tools, tokens.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548640"/>
            <a:ext cx="10362895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 i="0">
                <a:solidFill>
                  <a:srgbClr val="33D6C6"/>
                </a:solidFill>
                <a:latin typeface="Consolas"/>
              </a:rPr>
              <a:t>BUILT THE WAY IT'S AUDITED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960120"/>
            <a:ext cx="10362895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3000" b="1" i="0">
                <a:solidFill>
                  <a:srgbClr val="EEF3F5"/>
                </a:solidFill>
                <a:latin typeface="Segoe UI Semibold"/>
              </a:rPr>
              <a:t>Same customer. Different answer.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072487" y="2743200"/>
            <a:ext cx="3291840" cy="2103120"/>
          </a:xfrm>
          <a:prstGeom prst="roundRect">
            <a:avLst>
              <a:gd name="adj" fmla="val 8000"/>
            </a:avLst>
          </a:prstGeom>
          <a:solidFill>
            <a:srgbClr val="121A22"/>
          </a:solidFill>
          <a:ln w="12700">
            <a:solidFill>
              <a:srgbClr val="2230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 tIns="164592"/>
          <a:lstStyle/>
          <a:p>
            <a:pPr algn="l"/>
            <a:r>
              <a:rPr sz="1200" b="1">
                <a:solidFill>
                  <a:srgbClr val="5F717A"/>
                </a:solidFill>
                <a:latin typeface="Consolas"/>
              </a:rPr>
              <a:t>BEFORE THE FIX</a:t>
            </a:r>
          </a:p>
          <a:p>
            <a:pPr algn="l"/>
            <a:r>
              <a:rPr sz="4000" b="1">
                <a:solidFill>
                  <a:srgbClr val="9FB0B8"/>
                </a:solidFill>
                <a:latin typeface="Segoe UI Semibold"/>
              </a:rPr>
              <a:t>45.8%</a:t>
            </a:r>
          </a:p>
          <a:p>
            <a:pPr algn="l"/>
            <a:r>
              <a:rPr sz="1400" b="0">
                <a:solidFill>
                  <a:srgbClr val="EEF3F5"/>
                </a:solidFill>
                <a:latin typeface="Segoe UI"/>
              </a:rPr>
              <a:t>“Unlikely to churn”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64327" y="3291840"/>
            <a:ext cx="146304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3600" b="0" i="0">
                <a:solidFill>
                  <a:srgbClr val="5F717A"/>
                </a:solidFill>
                <a:latin typeface="Segoe UI Semibold"/>
              </a:rPr>
              <a:t>→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27367" y="2743200"/>
            <a:ext cx="3291840" cy="2103120"/>
          </a:xfrm>
          <a:prstGeom prst="roundRect">
            <a:avLst>
              <a:gd name="adj" fmla="val 8000"/>
            </a:avLst>
          </a:prstGeom>
          <a:solidFill>
            <a:srgbClr val="121A22"/>
          </a:solidFill>
          <a:ln w="12700">
            <a:solidFill>
              <a:srgbClr val="33D6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 tIns="164592"/>
          <a:lstStyle/>
          <a:p>
            <a:pPr algn="l"/>
            <a:r>
              <a:rPr sz="1200" b="1">
                <a:solidFill>
                  <a:srgbClr val="33D6C6"/>
                </a:solidFill>
                <a:latin typeface="Consolas"/>
              </a:rPr>
              <a:t>AFTER THE FIX</a:t>
            </a:r>
          </a:p>
          <a:p>
            <a:pPr algn="l"/>
            <a:r>
              <a:rPr sz="4000" b="1">
                <a:solidFill>
                  <a:srgbClr val="FF8A5C"/>
                </a:solidFill>
                <a:latin typeface="Segoe UI Semibold"/>
              </a:rPr>
              <a:t>56.5%</a:t>
            </a:r>
          </a:p>
          <a:p>
            <a:pPr algn="l"/>
            <a:r>
              <a:rPr sz="1400" b="0">
                <a:solidFill>
                  <a:srgbClr val="EEF3F5"/>
                </a:solidFill>
                <a:latin typeface="Segoe UI"/>
              </a:rPr>
              <a:t>“Likely to churn”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011680" y="5212080"/>
            <a:ext cx="8168335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0" i="0">
                <a:solidFill>
                  <a:srgbClr val="5F717A"/>
                </a:solidFill>
                <a:latin typeface="Segoe UI"/>
              </a:rPr>
              <a:t>Found by using Claude to audit our own prediction code — before it ever reached a customer-facing decision.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777240"/>
            <a:ext cx="10362895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3200" b="1" i="0">
                <a:solidFill>
                  <a:srgbClr val="EEF3F5"/>
                </a:solidFill>
                <a:latin typeface="Segoe UI Semibold"/>
              </a:rPr>
              <a:t>What's next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163927" y="2011680"/>
            <a:ext cx="7863840" cy="1005840"/>
          </a:xfrm>
          <a:prstGeom prst="roundRect">
            <a:avLst>
              <a:gd name="adj" fmla="val 8000"/>
            </a:avLst>
          </a:prstGeom>
          <a:solidFill>
            <a:srgbClr val="121A22"/>
          </a:solidFill>
          <a:ln w="12700">
            <a:solidFill>
              <a:srgbClr val="2230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l"/>
            <a:r>
              <a:rPr sz="1400" b="1">
                <a:solidFill>
                  <a:srgbClr val="33D6C6"/>
                </a:solidFill>
                <a:latin typeface="Consolas"/>
              </a:rPr>
              <a:t>→   </a:t>
            </a:r>
            <a:r>
              <a:rPr sz="1600">
                <a:solidFill>
                  <a:srgbClr val="EEF3F5"/>
                </a:solidFill>
                <a:latin typeface="Segoe UI"/>
              </a:rPr>
              <a:t>A scheduled daily brief flagging which segments moved overnight.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163927" y="3218688"/>
            <a:ext cx="7863840" cy="1005840"/>
          </a:xfrm>
          <a:prstGeom prst="roundRect">
            <a:avLst>
              <a:gd name="adj" fmla="val 8000"/>
            </a:avLst>
          </a:prstGeom>
          <a:solidFill>
            <a:srgbClr val="121A22"/>
          </a:solidFill>
          <a:ln w="12700">
            <a:solidFill>
              <a:srgbClr val="2230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l"/>
            <a:r>
              <a:rPr sz="1400" b="1">
                <a:solidFill>
                  <a:srgbClr val="33D6C6"/>
                </a:solidFill>
                <a:latin typeface="Consolas"/>
              </a:rPr>
              <a:t>→   </a:t>
            </a:r>
            <a:r>
              <a:rPr sz="1600">
                <a:solidFill>
                  <a:srgbClr val="EEF3F5"/>
                </a:solidFill>
                <a:latin typeface="Segoe UI"/>
              </a:rPr>
              <a:t>An automatic code review on every change, before it reaches production.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163927" y="4425696"/>
            <a:ext cx="7863840" cy="1005840"/>
          </a:xfrm>
          <a:prstGeom prst="roundRect">
            <a:avLst>
              <a:gd name="adj" fmla="val 8000"/>
            </a:avLst>
          </a:prstGeom>
          <a:solidFill>
            <a:srgbClr val="121A22"/>
          </a:solidFill>
          <a:ln w="12700">
            <a:solidFill>
              <a:srgbClr val="2230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l"/>
            <a:r>
              <a:rPr sz="1400" b="1">
                <a:solidFill>
                  <a:srgbClr val="33D6C6"/>
                </a:solidFill>
                <a:latin typeface="Consolas"/>
              </a:rPr>
              <a:t>→   </a:t>
            </a:r>
            <a:r>
              <a:rPr sz="1600">
                <a:solidFill>
                  <a:srgbClr val="EEF3F5"/>
                </a:solidFill>
                <a:latin typeface="Segoe UI"/>
              </a:rPr>
              <a:t>A standing evaluation suite — every model choice justified by numbers.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88720" y="2286000"/>
            <a:ext cx="9814255" cy="1645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3800" b="1" i="0">
                <a:solidFill>
                  <a:srgbClr val="EEF3F5"/>
                </a:solidFill>
                <a:latin typeface="Segoe UI Semibold"/>
              </a:rPr>
              <a:t>26% of your customers are telling you they might leave.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4023360"/>
            <a:ext cx="8534095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800" b="0" i="0">
                <a:solidFill>
                  <a:srgbClr val="94F5EA"/>
                </a:solidFill>
                <a:latin typeface="Consolas"/>
              </a:rPr>
              <a:t>Let's talk about a pilot for your team.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