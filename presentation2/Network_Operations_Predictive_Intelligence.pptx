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[Your Name]. This is Network Operations and Predictive Intelligence -</a:t>
            </a:r>
          </a:p>
          <a:p>
            <a:r>
              <a:t>a platform that doesn't just show you the network, it tells you what's</a:t>
            </a:r>
          </a:p>
          <a:p>
            <a:r>
              <a:t>happening, whether it's normal, and what to check next. Let me show you,</a:t>
            </a:r>
          </a:p>
          <a:p>
            <a:r>
              <a:t>before I explain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explain anything yet - just show it. Then: "That explanation didn't come</a:t>
            </a:r>
          </a:p>
          <a:p>
            <a:r>
              <a:t>from a script. Every number in it was pulled live from the exact platform you</a:t>
            </a:r>
          </a:p>
          <a:p>
            <a:r>
              <a:t>just saw. Now let me walk you through it, feature by feature."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that matters. Every NOC deals with the same problem: raw numbers</a:t>
            </a:r>
          </a:p>
          <a:p>
            <a:r>
              <a:t>everywhere, but no easy way to know if a number is actually normal. A</a:t>
            </a:r>
          </a:p>
          <a:p>
            <a:r>
              <a:t>dashboard can show you a spike - it can't tell you whether you can even trust</a:t>
            </a:r>
          </a:p>
          <a:p>
            <a:r>
              <a:t>the data behind it, and it can't tell you what to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whole product is built around one boundary. Data and processing tell</a:t>
            </a:r>
          </a:p>
          <a:p>
            <a:r>
              <a:t>you what happened. Machine learning tells you if it's unusual or risky. And</a:t>
            </a:r>
          </a:p>
          <a:p>
            <a:r>
              <a:t>the AI layer tells you what it means and what to check next. No layer does</a:t>
            </a:r>
          </a:p>
          <a:p>
            <a:r>
              <a:t>another layer's job. That discipline is what you just watched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go feature by feature, starting at the very front door. Every file</a:t>
            </a:r>
          </a:p>
          <a:p>
            <a:r>
              <a:t>that comes in is validated before it touches anything downstream. Anything</a:t>
            </a:r>
          </a:p>
          <a:p>
            <a:r>
              <a:t>bad is quarantined with a named reason, never silently dropped, and never</a:t>
            </a:r>
          </a:p>
          <a:p>
            <a:r>
              <a:t>silently processed either."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ingestion, the data is processed at real scale and loaded into an</a:t>
            </a:r>
          </a:p>
          <a:p>
            <a:r>
              <a:t>analytics warehouse. Then fifteen automated quality gates check the output -</a:t>
            </a:r>
          </a:p>
          <a:p>
            <a:r>
              <a:t>any single failure fails the whole run. That produces a pipeline status</a:t>
            </a:r>
          </a:p>
          <a:p>
            <a:r>
              <a:t>record - a machine-readable trust signal that the API, the dashboard, and the</a:t>
            </a:r>
          </a:p>
          <a:p>
            <a:r>
              <a:t>AI assistant all check before they say anything."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what feeds the front page of the dashboard - total activity, how many</a:t>
            </a:r>
          </a:p>
          <a:p>
            <a:r>
              <a:t>cells are active, the peak hour, the top cell, all for right now. Notice it</a:t>
            </a:r>
          </a:p>
          <a:p>
            <a:r>
              <a:t>shows the data's current time, not the viewer's clock."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drill-down. Pick any one of the ten thousand grid cells and pull its</a:t>
            </a:r>
          </a:p>
          <a:p>
            <a:r>
              <a:t>hourly activity - SMS, call, internet, and combined - on demand."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detail worth dwelling on. Each cell in the underlying map data</a:t>
            </a:r>
          </a:p>
          <a:p>
            <a:r>
              <a:t>carries two possible identifiers, and using the wrong one would silently draw</a:t>
            </a:r>
          </a:p>
          <a:p>
            <a:r>
              <a:t>every hotspot on its neighbor's square - full apparent coverage, no error,</a:t>
            </a:r>
          </a:p>
          <a:p>
            <a:r>
              <a:t>no warning anywhere. This platform joins on the correct one, and proves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machine learning gets involved, there's a transparent first</a:t>
            </a:r>
          </a:p>
          <a:p>
            <a:r>
              <a:t>layer: each cell's current activity compared to its own recent baseline,</a:t>
            </a:r>
          </a:p>
          <a:p>
            <a:r>
              <a:t>three plain rules, every alert carrying a human-readable reason."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number I actually want to talk about: seventy point six percent</a:t>
            </a:r>
          </a:p>
          <a:p>
            <a:r>
              <a:t>test accuracy - on paper, worse than just predicting 'nothing's wrong' every</a:t>
            </a:r>
          </a:p>
          <a:p>
            <a:r>
              <a:t>time, which scores about ninety percent. That's deliberate - tuned to catch</a:t>
            </a:r>
          </a:p>
          <a:p>
            <a:r>
              <a:t>real surges at the cost of some false alarms. And if this number had come</a:t>
            </a:r>
          </a:p>
          <a:p>
            <a:r>
              <a:t>back above ninety-five percent, that would mean the model was seeing its own</a:t>
            </a:r>
          </a:p>
          <a:p>
            <a:r>
              <a:t>answer, and I'd have gone back to fix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signal sits alongside the risk score: an anomaly baseline that asks</a:t>
            </a:r>
          </a:p>
          <a:p>
            <a:r>
              <a:t>'is this unusual for this cell at this hour of day,' based on its own</a:t>
            </a:r>
          </a:p>
          <a:p>
            <a:r>
              <a:t>history. Three independent signals - when they agree, that's high confidence</a:t>
            </a:r>
          </a:p>
          <a:p>
            <a:r>
              <a:t>fast. When they disagree, that's information surfaced to a human, not</a:t>
            </a:r>
          </a:p>
          <a:p>
            <a:r>
              <a:t>smoothed over."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checks the pipeline's trust signal first, then pulls current activity,</a:t>
            </a:r>
          </a:p>
          <a:p>
            <a:r>
              <a:t>history, the model's risk score, the anomaly signal, and the cell's real</a:t>
            </a:r>
          </a:p>
          <a:p>
            <a:r>
              <a:t>location - all through defined tool calls - and returns a structured answer.</a:t>
            </a:r>
          </a:p>
          <a:p>
            <a:r>
              <a:t>It never sees raw data, never invents a number, and never asserts a network</a:t>
            </a:r>
          </a:p>
          <a:p>
            <a:r>
              <a:t>situation as fact without checking whether the data can even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things make this more than a demo. The one-row-per-cell-per-hour rule</a:t>
            </a:r>
          </a:p>
          <a:p>
            <a:r>
              <a:t>is enforced in code, in three separate places, including the database's own</a:t>
            </a:r>
          </a:p>
          <a:p>
            <a:r>
              <a:t>primary key. The risk model trains on a strictly time-ordered split. The</a:t>
            </a:r>
          </a:p>
          <a:p>
            <a:r>
              <a:t>vocabulary is deliberately strict - this system never claims 'congestion.'</a:t>
            </a:r>
          </a:p>
          <a:p>
            <a:r>
              <a:t>And the pipeline has actually been tested against injected failures."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numbers behind everything you just watched: ten thousand grid cells,</a:t>
            </a:r>
          </a:p>
          <a:p>
            <a:r>
              <a:t>one point six eight million analytics records, fifteen automated quality</a:t>
            </a:r>
          </a:p>
          <a:p>
            <a:r>
              <a:t>gates, six stable API endpoints, six engineered features, and three</a:t>
            </a:r>
          </a:p>
          <a:p>
            <a:r>
              <a:t>independent signals working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isn't a finished, static thing. Next: wiring the ML risk scores</a:t>
            </a:r>
          </a:p>
          <a:p>
            <a:r>
              <a:t>directly into the hotspot view, replacing the remaining hardcoded thresholds</a:t>
            </a:r>
          </a:p>
          <a:p>
            <a:r>
              <a:t>with the full rule engine, exposing these tools over a standard protocol so</a:t>
            </a:r>
          </a:p>
          <a:p>
            <a:r>
              <a:t>any AI surface can investigate a cell the same way, and simply accumulating</a:t>
            </a:r>
          </a:p>
          <a:p>
            <a:r>
              <a:t>more history so the anomaly baseline keeps getting sharper."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Network Operations and Predictive Intelligence - data tells you what</a:t>
            </a:r>
          </a:p>
          <a:p>
            <a:r>
              <a:t>happened, machine learning tells you if it's unusual, and the AI layer tells</a:t>
            </a:r>
          </a:p>
          <a:p>
            <a:r>
              <a:t>you what it means and what to check next, without ever doing the analytics</a:t>
            </a:r>
          </a:p>
          <a:p>
            <a:r>
              <a:t>stack's job. Thanks for watching - happy to answer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10515600" cy="2011680"/>
          </a:xfrm>
          <a:prstGeom prst="rect">
            <a:avLst/>
          </a:prstGeom>
          <a:noFill/>
        </p:spPr>
        <p:txBody>
          <a:bodyPr wrap="square" anchor="t">
            <a:spAutoFit/>
          </a:bodyPr>
          <a:lstStyle/>
          <a:p>
            <a:r>
              <a:rPr sz="4400" b="1">
                <a:solidFill>
                  <a:srgbClr val="FFFFFF"/>
                </a:solidFill>
                <a:latin typeface="Segoe UI Light"/>
              </a:rPr>
              <a:t>Network Operations &amp;
Predictive Intelligence</a:t>
            </a:r>
          </a:p>
        </p:txBody>
      </p:sp>
      <p:sp>
        <p:nvSpPr>
          <p:cNvPr id="5" name="TextBox 4"/>
          <p:cNvSpPr txBox="1"/>
          <p:nvPr/>
        </p:nvSpPr>
        <p:spPr>
          <a:xfrm>
            <a:off x="868680" y="4206240"/>
            <a:ext cx="10424160" cy="1280160"/>
          </a:xfrm>
          <a:prstGeom prst="rect">
            <a:avLst/>
          </a:prstGeom>
          <a:noFill/>
        </p:spPr>
        <p:txBody>
          <a:bodyPr wrap="square" anchor="t">
            <a:spAutoFit/>
          </a:bodyPr>
          <a:lstStyle/>
          <a:p>
            <a:r>
              <a:rPr sz="1700" b="0">
                <a:solidFill>
                  <a:srgbClr val="C5D3DE"/>
                </a:solidFill>
                <a:latin typeface="Segoe UI"/>
              </a:rPr>
              <a:t>A live NOC platform that doesn't just show you the network - it tells you what's happening, whether it's normal, and what to check next.</a:t>
            </a:r>
          </a:p>
        </p:txBody>
      </p:sp>
      <p:sp>
        <p:nvSpPr>
          <p:cNvPr id="6" name="TextBox 5"/>
          <p:cNvSpPr txBox="1"/>
          <p:nvPr/>
        </p:nvSpPr>
        <p:spPr>
          <a:xfrm>
            <a:off x="868680" y="5669280"/>
            <a:ext cx="10424160" cy="548640"/>
          </a:xfrm>
          <a:prstGeom prst="rect">
            <a:avLst/>
          </a:prstGeom>
          <a:noFill/>
        </p:spPr>
        <p:txBody>
          <a:bodyPr wrap="square" anchor="t">
            <a:spAutoFit/>
          </a:bodyPr>
          <a:lstStyle/>
          <a:p>
            <a:r>
              <a:rPr sz="1200" b="0">
                <a:solidFill>
                  <a:srgbClr val="8FA6B6"/>
                </a:solidFill>
                <a:latin typeface="Segoe UI"/>
              </a:rPr>
              <a:t>Presented by [Your Name]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144000" cy="914400"/>
          </a:xfrm>
          <a:prstGeom prst="rect">
            <a:avLst/>
          </a:prstGeom>
          <a:noFill/>
        </p:spPr>
        <p:txBody>
          <a:bodyPr wrap="square" anchor="ctr">
            <a:spAutoFit/>
          </a:bodyPr>
          <a:lstStyle/>
          <a:p>
            <a:r>
              <a:rPr sz="1300" b="1">
                <a:solidFill>
                  <a:srgbClr val="DD7A2E"/>
                </a:solidFill>
                <a:latin typeface="Segoe UI"/>
              </a:rPr>
              <a:t>LIVE DEMO</a:t>
            </a:r>
          </a:p>
        </p:txBody>
      </p:sp>
      <p:sp>
        <p:nvSpPr>
          <p:cNvPr id="5" name="TextBox 4"/>
          <p:cNvSpPr txBox="1"/>
          <p:nvPr/>
        </p:nvSpPr>
        <p:spPr>
          <a:xfrm>
            <a:off x="640080" y="640080"/>
            <a:ext cx="10515600" cy="731520"/>
          </a:xfrm>
          <a:prstGeom prst="rect">
            <a:avLst/>
          </a:prstGeom>
          <a:noFill/>
        </p:spPr>
        <p:txBody>
          <a:bodyPr wrap="square" anchor="t">
            <a:spAutoFit/>
          </a:bodyPr>
          <a:lstStyle/>
          <a:p>
            <a:r>
              <a:rPr sz="2600" b="1">
                <a:solidFill>
                  <a:srgbClr val="FFFFFF"/>
                </a:solidFill>
                <a:latin typeface="Segoe UI Light"/>
              </a:rPr>
              <a:t>The Hook (~75 sec)</a:t>
            </a:r>
          </a:p>
        </p:txBody>
      </p:sp>
      <p:sp>
        <p:nvSpPr>
          <p:cNvPr id="6" name="TextBox 5"/>
          <p:cNvSpPr txBox="1"/>
          <p:nvPr/>
        </p:nvSpPr>
        <p:spPr>
          <a:xfrm>
            <a:off x="822960" y="1920240"/>
            <a:ext cx="10424160" cy="4206240"/>
          </a:xfrm>
          <a:prstGeom prst="rect">
            <a:avLst/>
          </a:prstGeom>
          <a:noFill/>
        </p:spPr>
        <p:txBody>
          <a:bodyPr wrap="square" anchor="t">
            <a:spAutoFit/>
          </a:bodyPr>
          <a:lstStyle/>
          <a:p>
            <a:pPr>
              <a:spcAft>
                <a:spcPts val="1200"/>
              </a:spcAft>
            </a:pPr>
            <a:r>
              <a:rPr sz="1500" b="1">
                <a:solidFill>
                  <a:srgbClr val="DD7A2E"/>
                </a:solidFill>
                <a:latin typeface="Segoe UI"/>
              </a:rPr>
              <a:t>1.  </a:t>
            </a:r>
            <a:r>
              <a:rPr sz="1500" b="0">
                <a:solidFill>
                  <a:srgbClr val="E7ECF0"/>
                </a:solidFill>
                <a:latin typeface="Segoe UI"/>
              </a:rPr>
              <a:t>Switch to the live dashboard - open Hotspots &amp; Milan Map.</a:t>
            </a:r>
          </a:p>
          <a:p>
            <a:pPr>
              <a:spcAft>
                <a:spcPts val="1200"/>
              </a:spcAft>
            </a:pPr>
            <a:r>
              <a:rPr sz="1500" b="1">
                <a:solidFill>
                  <a:srgbClr val="DD7A2E"/>
                </a:solidFill>
                <a:latin typeface="Segoe UI"/>
              </a:rPr>
              <a:t>2.  </a:t>
            </a:r>
            <a:r>
              <a:rPr sz="1500" b="0">
                <a:solidFill>
                  <a:srgbClr val="E7ECF0"/>
                </a:solidFill>
                <a:latin typeface="Segoe UI"/>
              </a:rPr>
              <a:t>Point at the map: "That's a real 10,000-cell grid over Milan, ranked by real activity, right now."</a:t>
            </a:r>
          </a:p>
          <a:p>
            <a:pPr>
              <a:spcAft>
                <a:spcPts val="1200"/>
              </a:spcAft>
            </a:pPr>
            <a:r>
              <a:rPr sz="1500" b="1">
                <a:solidFill>
                  <a:srgbClr val="DD7A2E"/>
                </a:solidFill>
                <a:latin typeface="Segoe UI"/>
              </a:rPr>
              <a:t>3.  </a:t>
            </a:r>
            <a:r>
              <a:rPr sz="1500" b="0">
                <a:solidFill>
                  <a:srgbClr val="E7ECF0"/>
                </a:solidFill>
                <a:latin typeface="Segoe UI"/>
              </a:rPr>
              <a:t>Click the top-ranked hotspot polygon.</a:t>
            </a:r>
          </a:p>
          <a:p>
            <a:pPr>
              <a:spcAft>
                <a:spcPts val="1200"/>
              </a:spcAft>
            </a:pPr>
            <a:r>
              <a:rPr sz="1500" b="1">
                <a:solidFill>
                  <a:srgbClr val="DD7A2E"/>
                </a:solidFill>
                <a:latin typeface="Segoe UI"/>
              </a:rPr>
              <a:t>4.  </a:t>
            </a:r>
            <a:r>
              <a:rPr sz="1500" b="0">
                <a:solidFill>
                  <a:srgbClr val="E7ECF0"/>
                </a:solidFill>
                <a:latin typeface="Segoe UI"/>
              </a:rPr>
              <a:t>Switch to the AI assistant window and ask: "Explain grid [chosen id] right now."</a:t>
            </a:r>
          </a:p>
          <a:p>
            <a:pPr>
              <a:spcAft>
                <a:spcPts val="1200"/>
              </a:spcAft>
            </a:pPr>
            <a:r>
              <a:rPr sz="1500" b="1">
                <a:solidFill>
                  <a:srgbClr val="DD7A2E"/>
                </a:solidFill>
                <a:latin typeface="Segoe UI"/>
              </a:rPr>
              <a:t>5.  </a:t>
            </a:r>
            <a:r>
              <a:rPr sz="1500" b="0">
                <a:solidFill>
                  <a:srgbClr val="E7ECF0"/>
                </a:solidFill>
                <a:latin typeface="Segoe UI"/>
              </a:rPr>
              <a:t>Let the four-part answer render - don't summarize it, let it speak for itself.</a:t>
            </a:r>
          </a:p>
          <a:p>
            <a:pPr>
              <a:spcAft>
                <a:spcPts val="1200"/>
              </a:spcAft>
            </a:pPr>
            <a:r>
              <a:rPr sz="1500" b="1">
                <a:solidFill>
                  <a:srgbClr val="DD7A2E"/>
                </a:solidFill>
                <a:latin typeface="Segoe UI"/>
              </a:rPr>
              <a:t>6.  </a:t>
            </a:r>
            <a:r>
              <a:rPr sz="1500" b="0">
                <a:solidFill>
                  <a:srgbClr val="E7ECF0"/>
                </a:solidFill>
                <a:latin typeface="Segoe UI"/>
              </a:rPr>
              <a:t>Cut back to the deck: "Every number in that came from the exact platform you just saw."</a:t>
            </a:r>
          </a:p>
        </p:txBody>
      </p:sp>
      <p:sp>
        <p:nvSpPr>
          <p:cNvPr id="7" name="TextBox 6"/>
          <p:cNvSpPr txBox="1"/>
          <p:nvPr/>
        </p:nvSpPr>
        <p:spPr>
          <a:xfrm>
            <a:off x="11338560" y="6419088"/>
            <a:ext cx="548640" cy="365760"/>
          </a:xfrm>
          <a:prstGeom prst="rect">
            <a:avLst/>
          </a:prstGeom>
          <a:noFill/>
        </p:spPr>
        <p:txBody>
          <a:bodyPr wrap="square" anchor="t">
            <a:spAutoFit/>
          </a:bodyPr>
          <a:lstStyle/>
          <a:p>
            <a:pPr algn="r"/>
            <a:r>
              <a:rPr sz="900" b="0">
                <a:solidFill>
                  <a:srgbClr val="8FA6B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WHY THIS EXISTS   </a:t>
            </a:r>
            <a:r>
              <a:rPr sz="2600" b="1">
                <a:solidFill>
                  <a:srgbClr val="FFFFFF"/>
                </a:solidFill>
                <a:latin typeface="Segoe UI"/>
              </a:rPr>
              <a:t>The Problem</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3</a:t>
            </a:r>
          </a:p>
        </p:txBody>
      </p:sp>
      <p:sp>
        <p:nvSpPr>
          <p:cNvPr id="7" name="TextBox 6"/>
          <p:cNvSpPr txBox="1"/>
          <p:nvPr/>
        </p:nvSpPr>
        <p:spPr>
          <a:xfrm>
            <a:off x="548640" y="1298448"/>
            <a:ext cx="11064240" cy="731520"/>
          </a:xfrm>
          <a:prstGeom prst="rect">
            <a:avLst/>
          </a:prstGeom>
          <a:noFill/>
        </p:spPr>
        <p:txBody>
          <a:bodyPr wrap="square" anchor="t">
            <a:spAutoFit/>
          </a:bodyPr>
          <a:lstStyle/>
          <a:p>
            <a:r>
              <a:rPr sz="1800" b="1">
                <a:solidFill>
                  <a:srgbClr val="2E6C8E"/>
                </a:solidFill>
                <a:latin typeface="Segoe UI"/>
              </a:rPr>
              <a:t>Every NOC team deals with the same three gaps.</a:t>
            </a:r>
          </a:p>
        </p:txBody>
      </p:sp>
      <p:sp>
        <p:nvSpPr>
          <p:cNvPr id="8" name="TextBox 7"/>
          <p:cNvSpPr txBox="1"/>
          <p:nvPr/>
        </p:nvSpPr>
        <p:spPr>
          <a:xfrm>
            <a:off x="548640" y="2286000"/>
            <a:ext cx="10972800" cy="3840480"/>
          </a:xfrm>
          <a:prstGeom prst="rect">
            <a:avLst/>
          </a:prstGeom>
          <a:noFill/>
        </p:spPr>
        <p:txBody>
          <a:bodyPr wrap="square" anchor="t">
            <a:spAutoFit/>
          </a:bodyPr>
          <a:lstStyle/>
          <a:p>
            <a:pPr>
              <a:spcAft>
                <a:spcPts val="1000"/>
              </a:spcAft>
            </a:pPr>
            <a:r>
              <a:rPr sz="1500" b="1">
                <a:solidFill>
                  <a:srgbClr val="DD7A2E"/>
                </a:solidFill>
                <a:latin typeface="Segoe UI"/>
              </a:rPr>
              <a:t>•  </a:t>
            </a:r>
            <a:r>
              <a:rPr sz="1500" b="0">
                <a:solidFill>
                  <a:srgbClr val="1E2830"/>
                </a:solidFill>
                <a:latin typeface="Segoe UI"/>
              </a:rPr>
              <a:t>Raw numbers, no context - a dashboard can show a spike, but not whether it's normal for that cell at that hour.</a:t>
            </a:r>
          </a:p>
          <a:p>
            <a:pPr>
              <a:spcAft>
                <a:spcPts val="1000"/>
              </a:spcAft>
            </a:pPr>
            <a:r>
              <a:rPr sz="1500" b="1">
                <a:solidFill>
                  <a:srgbClr val="DD7A2E"/>
                </a:solidFill>
                <a:latin typeface="Segoe UI"/>
              </a:rPr>
              <a:t>•  </a:t>
            </a:r>
            <a:r>
              <a:rPr sz="1500" b="0">
                <a:solidFill>
                  <a:srgbClr val="1E2830"/>
                </a:solidFill>
                <a:latin typeface="Segoe UI"/>
              </a:rPr>
              <a:t>No trust signal - if the pipeline had a bad run today, most dashboards show yesterday's numbers with total confidence and no warning.</a:t>
            </a:r>
          </a:p>
          <a:p>
            <a:pPr>
              <a:spcAft>
                <a:spcPts val="1000"/>
              </a:spcAft>
            </a:pPr>
            <a:r>
              <a:rPr sz="1500" b="1">
                <a:solidFill>
                  <a:srgbClr val="DD7A2E"/>
                </a:solidFill>
                <a:latin typeface="Segoe UI"/>
              </a:rPr>
              <a:t>•  </a:t>
            </a:r>
            <a:r>
              <a:rPr sz="1500" b="0">
                <a:solidFill>
                  <a:srgbClr val="1E2830"/>
                </a:solidFill>
                <a:latin typeface="Segoe UI"/>
              </a:rPr>
              <a:t>Manual investigation - an engineer opens five tools, pulls history, checks a model score, and writes it up, every single time.</a:t>
            </a:r>
          </a:p>
        </p:txBody>
      </p:sp>
      <p:sp>
        <p:nvSpPr>
          <p:cNvPr id="9" name="TextBox 8"/>
          <p:cNvSpPr txBox="1"/>
          <p:nvPr/>
        </p:nvSpPr>
        <p:spPr>
          <a:xfrm>
            <a:off x="548640" y="5120640"/>
            <a:ext cx="11064240" cy="1005840"/>
          </a:xfrm>
          <a:prstGeom prst="rect">
            <a:avLst/>
          </a:prstGeom>
          <a:noFill/>
        </p:spPr>
        <p:txBody>
          <a:bodyPr wrap="square" anchor="t">
            <a:spAutoFit/>
          </a:bodyPr>
          <a:lstStyle/>
          <a:p>
            <a:r>
              <a:rPr sz="1500" b="1">
                <a:solidFill>
                  <a:srgbClr val="2E6C8E"/>
                </a:solidFill>
                <a:latin typeface="Segoe UI"/>
              </a:rPr>
              <a:t>What a NOC team actually needs: a system that separates what happened from is this unusual from what does it mean - and never blurs the three.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ONE DESIGN BOUNDARY   </a:t>
            </a:r>
            <a:r>
              <a:rPr sz="2600" b="1">
                <a:solidFill>
                  <a:srgbClr val="FFFFFF"/>
                </a:solidFill>
                <a:latin typeface="Segoe UI"/>
              </a:rPr>
              <a:t>The Promise</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4</a:t>
            </a:r>
          </a:p>
        </p:txBody>
      </p:sp>
      <p:sp>
        <p:nvSpPr>
          <p:cNvPr id="7" name="TextBox 6"/>
          <p:cNvSpPr txBox="1"/>
          <p:nvPr/>
        </p:nvSpPr>
        <p:spPr>
          <a:xfrm>
            <a:off x="548640" y="1298448"/>
            <a:ext cx="11064240" cy="731520"/>
          </a:xfrm>
          <a:prstGeom prst="rect">
            <a:avLst/>
          </a:prstGeom>
          <a:noFill/>
        </p:spPr>
        <p:txBody>
          <a:bodyPr wrap="square" anchor="t">
            <a:spAutoFit/>
          </a:bodyPr>
          <a:lstStyle/>
          <a:p>
            <a:r>
              <a:rPr sz="1800" b="1">
                <a:solidFill>
                  <a:srgbClr val="2E6C8E"/>
                </a:solidFill>
                <a:latin typeface="Segoe UI"/>
              </a:rPr>
              <a:t>Every layer answers exactly one kind of question.</a:t>
            </a:r>
          </a:p>
        </p:txBody>
      </p:sp>
      <p:sp>
        <p:nvSpPr>
          <p:cNvPr id="8" name="Rounded Rectangle 7"/>
          <p:cNvSpPr/>
          <p:nvPr/>
        </p:nvSpPr>
        <p:spPr>
          <a:xfrm>
            <a:off x="548640" y="2286000"/>
            <a:ext cx="4206240" cy="603504"/>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Segoe UI"/>
              </a:rPr>
              <a:t>Data + processing</a:t>
            </a:r>
          </a:p>
        </p:txBody>
      </p:sp>
      <p:sp>
        <p:nvSpPr>
          <p:cNvPr id="9" name="Rounded Rectangle 8"/>
          <p:cNvSpPr/>
          <p:nvPr/>
        </p:nvSpPr>
        <p:spPr>
          <a:xfrm>
            <a:off x="4892040" y="2286000"/>
            <a:ext cx="6720840" cy="603504"/>
          </a:xfrm>
          <a:prstGeom prst="roundRect">
            <a:avLst/>
          </a:prstGeom>
          <a:solidFill>
            <a:srgbClr val="EEF2F5"/>
          </a:solidFill>
          <a:ln w="9525">
            <a:solidFill>
              <a:srgbClr val="2E6C8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0">
                <a:solidFill>
                  <a:srgbClr val="1E2830"/>
                </a:solidFill>
                <a:latin typeface="Segoe UI"/>
              </a:rPr>
              <a:t>What happened?</a:t>
            </a:r>
          </a:p>
        </p:txBody>
      </p:sp>
      <p:sp>
        <p:nvSpPr>
          <p:cNvPr id="10" name="Rounded Rectangle 9"/>
          <p:cNvSpPr/>
          <p:nvPr/>
        </p:nvSpPr>
        <p:spPr>
          <a:xfrm>
            <a:off x="548640" y="2999232"/>
            <a:ext cx="4206240" cy="603504"/>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Segoe UI"/>
              </a:rPr>
              <a:t>Machine learning</a:t>
            </a:r>
          </a:p>
        </p:txBody>
      </p:sp>
      <p:sp>
        <p:nvSpPr>
          <p:cNvPr id="11" name="Rounded Rectangle 10"/>
          <p:cNvSpPr/>
          <p:nvPr/>
        </p:nvSpPr>
        <p:spPr>
          <a:xfrm>
            <a:off x="4892040" y="2999232"/>
            <a:ext cx="6720840" cy="603504"/>
          </a:xfrm>
          <a:prstGeom prst="roundRect">
            <a:avLst/>
          </a:prstGeom>
          <a:solidFill>
            <a:srgbClr val="EEF2F5"/>
          </a:solidFill>
          <a:ln w="9525">
            <a:solidFill>
              <a:srgbClr val="2E6C8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0">
                <a:solidFill>
                  <a:srgbClr val="1E2830"/>
                </a:solidFill>
                <a:latin typeface="Segoe UI"/>
              </a:rPr>
              <a:t>Is this unusual or risky?</a:t>
            </a:r>
          </a:p>
        </p:txBody>
      </p:sp>
      <p:sp>
        <p:nvSpPr>
          <p:cNvPr id="12" name="Rounded Rectangle 11"/>
          <p:cNvSpPr/>
          <p:nvPr/>
        </p:nvSpPr>
        <p:spPr>
          <a:xfrm>
            <a:off x="548640" y="3712464"/>
            <a:ext cx="4206240" cy="603504"/>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Segoe UI"/>
              </a:rPr>
              <a:t>AI assistant</a:t>
            </a:r>
          </a:p>
        </p:txBody>
      </p:sp>
      <p:sp>
        <p:nvSpPr>
          <p:cNvPr id="13" name="Rounded Rectangle 12"/>
          <p:cNvSpPr/>
          <p:nvPr/>
        </p:nvSpPr>
        <p:spPr>
          <a:xfrm>
            <a:off x="4892040" y="3712464"/>
            <a:ext cx="6720840" cy="603504"/>
          </a:xfrm>
          <a:prstGeom prst="roundRect">
            <a:avLst/>
          </a:prstGeom>
          <a:solidFill>
            <a:srgbClr val="EEF2F5"/>
          </a:solidFill>
          <a:ln w="9525">
            <a:solidFill>
              <a:srgbClr val="2E6C8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0">
                <a:solidFill>
                  <a:srgbClr val="1E2830"/>
                </a:solidFill>
                <a:latin typeface="Segoe UI"/>
              </a:rPr>
              <a:t>What does it mean? What should I check next?</a:t>
            </a:r>
          </a:p>
        </p:txBody>
      </p:sp>
      <p:sp>
        <p:nvSpPr>
          <p:cNvPr id="14" name="TextBox 13"/>
          <p:cNvSpPr txBox="1"/>
          <p:nvPr/>
        </p:nvSpPr>
        <p:spPr>
          <a:xfrm>
            <a:off x="548640" y="4663440"/>
            <a:ext cx="11064240" cy="1280160"/>
          </a:xfrm>
          <a:prstGeom prst="rect">
            <a:avLst/>
          </a:prstGeom>
          <a:noFill/>
        </p:spPr>
        <p:txBody>
          <a:bodyPr wrap="square" anchor="t">
            <a:spAutoFit/>
          </a:bodyPr>
          <a:lstStyle/>
          <a:p>
            <a:r>
              <a:rPr sz="1500" b="1">
                <a:solidFill>
                  <a:srgbClr val="2E6C8E"/>
                </a:solidFill>
                <a:latin typeface="Segoe UI"/>
              </a:rPr>
              <a:t>"Data tells you what happened. Machine learning tells you if it's unusual. The AI layer tells you what it means and what to check next - and it never does another layer's job."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FEATURE 1   </a:t>
            </a:r>
            <a:r>
              <a:rPr sz="2600" b="1">
                <a:solidFill>
                  <a:srgbClr val="FFFFFF"/>
                </a:solidFill>
                <a:latin typeface="Segoe UI"/>
              </a:rPr>
              <a:t>Trusted Ingestion</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5</a:t>
            </a:r>
          </a:p>
        </p:txBody>
      </p:sp>
      <p:sp>
        <p:nvSpPr>
          <p:cNvPr id="7" name="TextBox 6"/>
          <p:cNvSpPr txBox="1"/>
          <p:nvPr/>
        </p:nvSpPr>
        <p:spPr>
          <a:xfrm>
            <a:off x="548640" y="1417320"/>
            <a:ext cx="11064240" cy="365760"/>
          </a:xfrm>
          <a:prstGeom prst="rect">
            <a:avLst/>
          </a:prstGeom>
          <a:noFill/>
        </p:spPr>
        <p:txBody>
          <a:bodyPr wrap="square" anchor="t">
            <a:spAutoFit/>
          </a:bodyPr>
          <a:lstStyle/>
          <a:p>
            <a:r>
              <a:rPr sz="1300" b="1">
                <a:solidFill>
                  <a:srgbClr val="DD7A2E"/>
                </a:solidFill>
                <a:latin typeface="Segoe UI"/>
              </a:rPr>
              <a:t>WHAT IT DOES</a:t>
            </a:r>
          </a:p>
        </p:txBody>
      </p:sp>
      <p:sp>
        <p:nvSpPr>
          <p:cNvPr id="8" name="TextBox 7"/>
          <p:cNvSpPr txBox="1"/>
          <p:nvPr/>
        </p:nvSpPr>
        <p:spPr>
          <a:xfrm>
            <a:off x="548640" y="1801368"/>
            <a:ext cx="11064240" cy="1280160"/>
          </a:xfrm>
          <a:prstGeom prst="rect">
            <a:avLst/>
          </a:prstGeom>
          <a:noFill/>
        </p:spPr>
        <p:txBody>
          <a:bodyPr wrap="square" anchor="t">
            <a:spAutoFit/>
          </a:bodyPr>
          <a:lstStyle/>
          <a:p>
            <a:r>
              <a:rPr sz="1550" b="0">
                <a:solidFill>
                  <a:srgbClr val="1E2830"/>
                </a:solidFill>
                <a:latin typeface="Segoe UI"/>
              </a:rPr>
              <a:t>Every incoming daily activity file is validated before it can touch anything downstream - schema check, minimum-quality check (no malformed timestamps, no out-of-range grid IDs, no negative activity, no duplicate files). Anything that fails is quarantined with a named reason, never silently dropped and never silently processed.</a:t>
            </a:r>
          </a:p>
        </p:txBody>
      </p:sp>
      <p:sp>
        <p:nvSpPr>
          <p:cNvPr id="9" name="TextBox 8"/>
          <p:cNvSpPr txBox="1"/>
          <p:nvPr/>
        </p:nvSpPr>
        <p:spPr>
          <a:xfrm>
            <a:off x="548640" y="3246120"/>
            <a:ext cx="11064240" cy="365760"/>
          </a:xfrm>
          <a:prstGeom prst="rect">
            <a:avLst/>
          </a:prstGeom>
          <a:noFill/>
        </p:spPr>
        <p:txBody>
          <a:bodyPr wrap="square" anchor="t">
            <a:spAutoFit/>
          </a:bodyPr>
          <a:lstStyle/>
          <a:p>
            <a:r>
              <a:rPr sz="1300" b="1">
                <a:solidFill>
                  <a:srgbClr val="2E6C8E"/>
                </a:solidFill>
                <a:latin typeface="Segoe UI"/>
              </a:rPr>
              <a:t>WHY IT MATTERS</a:t>
            </a:r>
          </a:p>
        </p:txBody>
      </p:sp>
      <p:sp>
        <p:nvSpPr>
          <p:cNvPr id="10" name="TextBox 9"/>
          <p:cNvSpPr txBox="1"/>
          <p:nvPr/>
        </p:nvSpPr>
        <p:spPr>
          <a:xfrm>
            <a:off x="548640" y="3630168"/>
            <a:ext cx="11064240" cy="1463040"/>
          </a:xfrm>
          <a:prstGeom prst="rect">
            <a:avLst/>
          </a:prstGeom>
          <a:noFill/>
        </p:spPr>
        <p:txBody>
          <a:bodyPr wrap="square" anchor="t">
            <a:spAutoFit/>
          </a:bodyPr>
          <a:lstStyle/>
          <a:p>
            <a:r>
              <a:rPr sz="1550" b="0">
                <a:solidFill>
                  <a:srgbClr val="1E2830"/>
                </a:solidFill>
                <a:latin typeface="Segoe UI"/>
              </a:rPr>
              <a:t>A bad file corrupting the analytics layer is the single most expensive kind of failure - because it doesn't announce itself. This feature exists so it can't happen quietly.</a:t>
            </a:r>
          </a:p>
        </p:txBody>
      </p:sp>
      <p:sp>
        <p:nvSpPr>
          <p:cNvPr id="11" name="Rounded Rectangle 10"/>
          <p:cNvSpPr/>
          <p:nvPr/>
        </p:nvSpPr>
        <p:spPr>
          <a:xfrm>
            <a:off x="548640" y="5532120"/>
            <a:ext cx="11064240" cy="685800"/>
          </a:xfrm>
          <a:prstGeom prst="roundRect">
            <a:avLst/>
          </a:prstGeom>
          <a:solidFill>
            <a:srgbClr val="EEF2F5"/>
          </a:solidFill>
          <a:ln w="12700">
            <a:solidFill>
              <a:srgbClr val="2E6C8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50" b="1">
                <a:solidFill>
                  <a:srgbClr val="2E6C8E"/>
                </a:solidFill>
                <a:latin typeface="Segoe UI"/>
              </a:rPr>
              <a:t>PROOF POINT   </a:t>
            </a:r>
            <a:r>
              <a:rPr sz="1250" b="0">
                <a:solidFill>
                  <a:srgbClr val="1E2830"/>
                </a:solidFill>
                <a:latin typeface="Segoe UI"/>
              </a:rPr>
              <a:t>Every file, good or bad, gets an audit row - filename, status, row count, reason, timestamp. Nothing enters the system unaccounted for.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FEATURE 2   </a:t>
            </a:r>
            <a:r>
              <a:rPr sz="2600" b="1">
                <a:solidFill>
                  <a:srgbClr val="FFFFFF"/>
                </a:solidFill>
                <a:latin typeface="Segoe UI"/>
              </a:rPr>
              <a:t>One Governed Pipeline, One Trust Signal</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6</a:t>
            </a:r>
          </a:p>
        </p:txBody>
      </p:sp>
      <p:sp>
        <p:nvSpPr>
          <p:cNvPr id="7" name="TextBox 6"/>
          <p:cNvSpPr txBox="1"/>
          <p:nvPr/>
        </p:nvSpPr>
        <p:spPr>
          <a:xfrm>
            <a:off x="548640" y="1417320"/>
            <a:ext cx="11064240" cy="365760"/>
          </a:xfrm>
          <a:prstGeom prst="rect">
            <a:avLst/>
          </a:prstGeom>
          <a:noFill/>
        </p:spPr>
        <p:txBody>
          <a:bodyPr wrap="square" anchor="t">
            <a:spAutoFit/>
          </a:bodyPr>
          <a:lstStyle/>
          <a:p>
            <a:r>
              <a:rPr sz="1300" b="1">
                <a:solidFill>
                  <a:srgbClr val="DD7A2E"/>
                </a:solidFill>
                <a:latin typeface="Segoe UI"/>
              </a:rPr>
              <a:t>WHAT IT DOES</a:t>
            </a:r>
          </a:p>
        </p:txBody>
      </p:sp>
      <p:sp>
        <p:nvSpPr>
          <p:cNvPr id="8" name="TextBox 7"/>
          <p:cNvSpPr txBox="1"/>
          <p:nvPr/>
        </p:nvSpPr>
        <p:spPr>
          <a:xfrm>
            <a:off x="548640" y="1801368"/>
            <a:ext cx="11064240" cy="1280160"/>
          </a:xfrm>
          <a:prstGeom prst="rect">
            <a:avLst/>
          </a:prstGeom>
          <a:noFill/>
        </p:spPr>
        <p:txBody>
          <a:bodyPr wrap="square" anchor="t">
            <a:spAutoFit/>
          </a:bodyPr>
          <a:lstStyle/>
          <a:p>
            <a:r>
              <a:rPr sz="1550" b="0">
                <a:solidFill>
                  <a:srgbClr val="1E2830"/>
                </a:solidFill>
                <a:latin typeface="Segoe UI"/>
              </a:rPr>
              <a:t>Ingested files are cleaned and aggregated at real scale, loaded into a proper analytics warehouse, and checked by 15 automated quality gates after every run - grain correctness, row-count consistency, geographic sanity, cross-layer agreement. Any single gate failing fails the whole run.</a:t>
            </a:r>
          </a:p>
        </p:txBody>
      </p:sp>
      <p:sp>
        <p:nvSpPr>
          <p:cNvPr id="9" name="TextBox 8"/>
          <p:cNvSpPr txBox="1"/>
          <p:nvPr/>
        </p:nvSpPr>
        <p:spPr>
          <a:xfrm>
            <a:off x="548640" y="3246120"/>
            <a:ext cx="11064240" cy="365760"/>
          </a:xfrm>
          <a:prstGeom prst="rect">
            <a:avLst/>
          </a:prstGeom>
          <a:noFill/>
        </p:spPr>
        <p:txBody>
          <a:bodyPr wrap="square" anchor="t">
            <a:spAutoFit/>
          </a:bodyPr>
          <a:lstStyle/>
          <a:p>
            <a:r>
              <a:rPr sz="1300" b="1">
                <a:solidFill>
                  <a:srgbClr val="2E6C8E"/>
                </a:solidFill>
                <a:latin typeface="Segoe UI"/>
              </a:rPr>
              <a:t>WHY IT MATTERS</a:t>
            </a:r>
          </a:p>
        </p:txBody>
      </p:sp>
      <p:sp>
        <p:nvSpPr>
          <p:cNvPr id="10" name="TextBox 9"/>
          <p:cNvSpPr txBox="1"/>
          <p:nvPr/>
        </p:nvSpPr>
        <p:spPr>
          <a:xfrm>
            <a:off x="548640" y="3630168"/>
            <a:ext cx="11064240" cy="1463040"/>
          </a:xfrm>
          <a:prstGeom prst="rect">
            <a:avLst/>
          </a:prstGeom>
          <a:noFill/>
        </p:spPr>
        <p:txBody>
          <a:bodyPr wrap="square" anchor="t">
            <a:spAutoFit/>
          </a:bodyPr>
          <a:lstStyle/>
          <a:p>
            <a:r>
              <a:rPr sz="1550" b="0">
                <a:solidFill>
                  <a:srgbClr val="1E2830"/>
                </a:solidFill>
                <a:latin typeface="Segoe UI"/>
              </a:rPr>
              <a:t>That produces one machine-readable artifact everything else depends on: a pipeline status record - "is the data behind this dashboard trustworthy, right now?" Not a log line - a first-class output the API, the dashboard, and the AI assistant all read before saying anything.</a:t>
            </a:r>
          </a:p>
        </p:txBody>
      </p:sp>
      <p:sp>
        <p:nvSpPr>
          <p:cNvPr id="11" name="Rounded Rectangle 10"/>
          <p:cNvSpPr/>
          <p:nvPr/>
        </p:nvSpPr>
        <p:spPr>
          <a:xfrm>
            <a:off x="548640" y="5532120"/>
            <a:ext cx="11064240" cy="685800"/>
          </a:xfrm>
          <a:prstGeom prst="roundRect">
            <a:avLst/>
          </a:prstGeom>
          <a:solidFill>
            <a:srgbClr val="EEF2F5"/>
          </a:solidFill>
          <a:ln w="12700">
            <a:solidFill>
              <a:srgbClr val="2E6C8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50" b="1">
                <a:solidFill>
                  <a:srgbClr val="2E6C8E"/>
                </a:solidFill>
                <a:latin typeface="Segoe UI"/>
              </a:rPr>
              <a:t>PROOF POINT   </a:t>
            </a:r>
            <a:r>
              <a:rPr sz="1250" b="0">
                <a:solidFill>
                  <a:srgbClr val="1E2830"/>
                </a:solidFill>
                <a:latin typeface="Segoe UI"/>
              </a:rPr>
              <a:t>The platform has processed 1.68 million grid-hour records end to end, guarded the whole way by those 15 gates.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FEATURE 3   </a:t>
            </a:r>
            <a:r>
              <a:rPr sz="2600" b="1">
                <a:solidFill>
                  <a:srgbClr val="FFFFFF"/>
                </a:solidFill>
                <a:latin typeface="Segoe UI"/>
              </a:rPr>
              <a:t>Live Network Summary</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7</a:t>
            </a:r>
          </a:p>
        </p:txBody>
      </p:sp>
      <p:sp>
        <p:nvSpPr>
          <p:cNvPr id="7" name="TextBox 6"/>
          <p:cNvSpPr txBox="1"/>
          <p:nvPr/>
        </p:nvSpPr>
        <p:spPr>
          <a:xfrm>
            <a:off x="548640" y="1417320"/>
            <a:ext cx="11064240" cy="365760"/>
          </a:xfrm>
          <a:prstGeom prst="rect">
            <a:avLst/>
          </a:prstGeom>
          <a:noFill/>
        </p:spPr>
        <p:txBody>
          <a:bodyPr wrap="square" anchor="t">
            <a:spAutoFit/>
          </a:bodyPr>
          <a:lstStyle/>
          <a:p>
            <a:r>
              <a:rPr sz="1300" b="1">
                <a:solidFill>
                  <a:srgbClr val="DD7A2E"/>
                </a:solidFill>
                <a:latin typeface="Segoe UI"/>
              </a:rPr>
              <a:t>WHAT IT DOES</a:t>
            </a:r>
          </a:p>
        </p:txBody>
      </p:sp>
      <p:sp>
        <p:nvSpPr>
          <p:cNvPr id="8" name="TextBox 7"/>
          <p:cNvSpPr txBox="1"/>
          <p:nvPr/>
        </p:nvSpPr>
        <p:spPr>
          <a:xfrm>
            <a:off x="548640" y="1801368"/>
            <a:ext cx="11064240" cy="1280160"/>
          </a:xfrm>
          <a:prstGeom prst="rect">
            <a:avLst/>
          </a:prstGeom>
          <a:noFill/>
        </p:spPr>
        <p:txBody>
          <a:bodyPr wrap="square" anchor="t">
            <a:spAutoFit/>
          </a:bodyPr>
          <a:lstStyle/>
          <a:p>
            <a:r>
              <a:rPr sz="1550" b="0">
                <a:solidFill>
                  <a:srgbClr val="1E2830"/>
                </a:solidFill>
                <a:latin typeface="Segoe UI"/>
              </a:rPr>
              <a:t>One glance answers "how's the network right now" - total activity, how many grid cells are active, the peak hour, and the top cell for the current reporting window.</a:t>
            </a:r>
          </a:p>
        </p:txBody>
      </p:sp>
      <p:sp>
        <p:nvSpPr>
          <p:cNvPr id="9" name="TextBox 8"/>
          <p:cNvSpPr txBox="1"/>
          <p:nvPr/>
        </p:nvSpPr>
        <p:spPr>
          <a:xfrm>
            <a:off x="548640" y="3246120"/>
            <a:ext cx="11064240" cy="365760"/>
          </a:xfrm>
          <a:prstGeom prst="rect">
            <a:avLst/>
          </a:prstGeom>
          <a:noFill/>
        </p:spPr>
        <p:txBody>
          <a:bodyPr wrap="square" anchor="t">
            <a:spAutoFit/>
          </a:bodyPr>
          <a:lstStyle/>
          <a:p>
            <a:r>
              <a:rPr sz="1300" b="1">
                <a:solidFill>
                  <a:srgbClr val="2E6C8E"/>
                </a:solidFill>
                <a:latin typeface="Segoe UI"/>
              </a:rPr>
              <a:t>WHY IT MATTERS</a:t>
            </a:r>
          </a:p>
        </p:txBody>
      </p:sp>
      <p:sp>
        <p:nvSpPr>
          <p:cNvPr id="10" name="TextBox 9"/>
          <p:cNvSpPr txBox="1"/>
          <p:nvPr/>
        </p:nvSpPr>
        <p:spPr>
          <a:xfrm>
            <a:off x="548640" y="3630168"/>
            <a:ext cx="11064240" cy="1463040"/>
          </a:xfrm>
          <a:prstGeom prst="rect">
            <a:avLst/>
          </a:prstGeom>
          <a:noFill/>
        </p:spPr>
        <p:txBody>
          <a:bodyPr wrap="square" anchor="t">
            <a:spAutoFit/>
          </a:bodyPr>
          <a:lstStyle/>
          <a:p>
            <a:r>
              <a:rPr sz="1550" b="0">
                <a:solidFill>
                  <a:srgbClr val="1E2830"/>
                </a:solidFill>
                <a:latin typeface="Segoe UI"/>
              </a:rPr>
              <a:t>This is the front door. It's the first thing an operator sees, and it always shows the data's own current time (not the viewer's clock) - critical for a system where "now" is a defined concept, not just whatever the browser says.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FEATURE 4   </a:t>
            </a:r>
            <a:r>
              <a:rPr sz="2600" b="1">
                <a:solidFill>
                  <a:srgbClr val="FFFFFF"/>
                </a:solidFill>
                <a:latin typeface="Segoe UI"/>
              </a:rPr>
              <a:t>Grid Explorer</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8</a:t>
            </a:r>
          </a:p>
        </p:txBody>
      </p:sp>
      <p:sp>
        <p:nvSpPr>
          <p:cNvPr id="7" name="TextBox 6"/>
          <p:cNvSpPr txBox="1"/>
          <p:nvPr/>
        </p:nvSpPr>
        <p:spPr>
          <a:xfrm>
            <a:off x="548640" y="1417320"/>
            <a:ext cx="11064240" cy="365760"/>
          </a:xfrm>
          <a:prstGeom prst="rect">
            <a:avLst/>
          </a:prstGeom>
          <a:noFill/>
        </p:spPr>
        <p:txBody>
          <a:bodyPr wrap="square" anchor="t">
            <a:spAutoFit/>
          </a:bodyPr>
          <a:lstStyle/>
          <a:p>
            <a:r>
              <a:rPr sz="1300" b="1">
                <a:solidFill>
                  <a:srgbClr val="DD7A2E"/>
                </a:solidFill>
                <a:latin typeface="Segoe UI"/>
              </a:rPr>
              <a:t>WHAT IT DOES</a:t>
            </a:r>
          </a:p>
        </p:txBody>
      </p:sp>
      <p:sp>
        <p:nvSpPr>
          <p:cNvPr id="8" name="TextBox 7"/>
          <p:cNvSpPr txBox="1"/>
          <p:nvPr/>
        </p:nvSpPr>
        <p:spPr>
          <a:xfrm>
            <a:off x="548640" y="1801368"/>
            <a:ext cx="11064240" cy="1280160"/>
          </a:xfrm>
          <a:prstGeom prst="rect">
            <a:avLst/>
          </a:prstGeom>
          <a:noFill/>
        </p:spPr>
        <p:txBody>
          <a:bodyPr wrap="square" anchor="t">
            <a:spAutoFit/>
          </a:bodyPr>
          <a:lstStyle/>
          <a:p>
            <a:r>
              <a:rPr sz="1550" b="0">
                <a:solidFill>
                  <a:srgbClr val="1E2830"/>
                </a:solidFill>
                <a:latin typeface="Segoe UI"/>
              </a:rPr>
              <a:t>Pick any one of the 10,000 geographic grid cells covering Milan and pull its hourly activity - SMS, call, and internet activity, individually and combined - on demand.</a:t>
            </a:r>
          </a:p>
        </p:txBody>
      </p:sp>
      <p:sp>
        <p:nvSpPr>
          <p:cNvPr id="9" name="TextBox 8"/>
          <p:cNvSpPr txBox="1"/>
          <p:nvPr/>
        </p:nvSpPr>
        <p:spPr>
          <a:xfrm>
            <a:off x="548640" y="3246120"/>
            <a:ext cx="11064240" cy="365760"/>
          </a:xfrm>
          <a:prstGeom prst="rect">
            <a:avLst/>
          </a:prstGeom>
          <a:noFill/>
        </p:spPr>
        <p:txBody>
          <a:bodyPr wrap="square" anchor="t">
            <a:spAutoFit/>
          </a:bodyPr>
          <a:lstStyle/>
          <a:p>
            <a:r>
              <a:rPr sz="1300" b="1">
                <a:solidFill>
                  <a:srgbClr val="2E6C8E"/>
                </a:solidFill>
                <a:latin typeface="Segoe UI"/>
              </a:rPr>
              <a:t>WHY IT MATTERS</a:t>
            </a:r>
          </a:p>
        </p:txBody>
      </p:sp>
      <p:sp>
        <p:nvSpPr>
          <p:cNvPr id="10" name="TextBox 9"/>
          <p:cNvSpPr txBox="1"/>
          <p:nvPr/>
        </p:nvSpPr>
        <p:spPr>
          <a:xfrm>
            <a:off x="548640" y="3630168"/>
            <a:ext cx="11064240" cy="1463040"/>
          </a:xfrm>
          <a:prstGeom prst="rect">
            <a:avLst/>
          </a:prstGeom>
          <a:noFill/>
        </p:spPr>
        <p:txBody>
          <a:bodyPr wrap="square" anchor="t">
            <a:spAutoFit/>
          </a:bodyPr>
          <a:lstStyle/>
          <a:p>
            <a:r>
              <a:rPr sz="1550" b="0">
                <a:solidFill>
                  <a:srgbClr val="1E2830"/>
                </a:solidFill>
                <a:latin typeface="Segoe UI"/>
              </a:rPr>
              <a:t>Every summary and every alert eventually leads an operator to ask "wait, show me that specific cell." This is that drill-down, and it's just a thin, fast consumer of the same stable API everything else uses.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FEATURE 5   </a:t>
            </a:r>
            <a:r>
              <a:rPr sz="2600" b="1">
                <a:solidFill>
                  <a:srgbClr val="FFFFFF"/>
                </a:solidFill>
                <a:latin typeface="Segoe UI"/>
              </a:rPr>
              <a:t>Hotspot Ranking + the Milan Map</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9</a:t>
            </a:r>
          </a:p>
        </p:txBody>
      </p:sp>
      <p:sp>
        <p:nvSpPr>
          <p:cNvPr id="7" name="TextBox 6"/>
          <p:cNvSpPr txBox="1"/>
          <p:nvPr/>
        </p:nvSpPr>
        <p:spPr>
          <a:xfrm>
            <a:off x="548640" y="1417320"/>
            <a:ext cx="11064240" cy="365760"/>
          </a:xfrm>
          <a:prstGeom prst="rect">
            <a:avLst/>
          </a:prstGeom>
          <a:noFill/>
        </p:spPr>
        <p:txBody>
          <a:bodyPr wrap="square" anchor="t">
            <a:spAutoFit/>
          </a:bodyPr>
          <a:lstStyle/>
          <a:p>
            <a:r>
              <a:rPr sz="1300" b="1">
                <a:solidFill>
                  <a:srgbClr val="DD7A2E"/>
                </a:solidFill>
                <a:latin typeface="Segoe UI"/>
              </a:rPr>
              <a:t>WHAT IT DOES</a:t>
            </a:r>
          </a:p>
        </p:txBody>
      </p:sp>
      <p:sp>
        <p:nvSpPr>
          <p:cNvPr id="8" name="TextBox 7"/>
          <p:cNvSpPr txBox="1"/>
          <p:nvPr/>
        </p:nvSpPr>
        <p:spPr>
          <a:xfrm>
            <a:off x="548640" y="1801368"/>
            <a:ext cx="11064240" cy="1280160"/>
          </a:xfrm>
          <a:prstGeom prst="rect">
            <a:avLst/>
          </a:prstGeom>
          <a:noFill/>
        </p:spPr>
        <p:txBody>
          <a:bodyPr wrap="square" anchor="t">
            <a:spAutoFit/>
          </a:bodyPr>
          <a:lstStyle/>
          <a:p>
            <a:r>
              <a:rPr sz="1550" b="0">
                <a:solidFill>
                  <a:srgbClr val="1E2830"/>
                </a:solidFill>
                <a:latin typeface="Segoe UI"/>
              </a:rPr>
              <a:t>Ranks grid cells by current activity and renders the highlighted cells on a real, interactive map of Milan's 100x100 grid.</a:t>
            </a:r>
          </a:p>
        </p:txBody>
      </p:sp>
      <p:sp>
        <p:nvSpPr>
          <p:cNvPr id="9" name="TextBox 8"/>
          <p:cNvSpPr txBox="1"/>
          <p:nvPr/>
        </p:nvSpPr>
        <p:spPr>
          <a:xfrm>
            <a:off x="548640" y="3246120"/>
            <a:ext cx="11064240" cy="365760"/>
          </a:xfrm>
          <a:prstGeom prst="rect">
            <a:avLst/>
          </a:prstGeom>
          <a:noFill/>
        </p:spPr>
        <p:txBody>
          <a:bodyPr wrap="square" anchor="t">
            <a:spAutoFit/>
          </a:bodyPr>
          <a:lstStyle/>
          <a:p>
            <a:r>
              <a:rPr sz="1300" b="1">
                <a:solidFill>
                  <a:srgbClr val="2E6C8E"/>
                </a:solidFill>
                <a:latin typeface="Segoe UI"/>
              </a:rPr>
              <a:t>WHY IT MATTERS</a:t>
            </a:r>
          </a:p>
        </p:txBody>
      </p:sp>
      <p:sp>
        <p:nvSpPr>
          <p:cNvPr id="10" name="TextBox 9"/>
          <p:cNvSpPr txBox="1"/>
          <p:nvPr/>
        </p:nvSpPr>
        <p:spPr>
          <a:xfrm>
            <a:off x="548640" y="3630168"/>
            <a:ext cx="11064240" cy="1463040"/>
          </a:xfrm>
          <a:prstGeom prst="rect">
            <a:avLst/>
          </a:prstGeom>
          <a:noFill/>
        </p:spPr>
        <p:txBody>
          <a:bodyPr wrap="square" anchor="t">
            <a:spAutoFit/>
          </a:bodyPr>
          <a:lstStyle/>
          <a:p>
            <a:r>
              <a:rPr sz="1550" b="0">
                <a:solidFill>
                  <a:srgbClr val="1E2830"/>
                </a:solidFill>
                <a:latin typeface="Segoe UI"/>
              </a:rPr>
              <a:t>Each cell in the underlying map data carries two possible identifiers, and the wrong one would silently draw every hotspot on its neighbor's square - full apparent coverage, no error, no warning. This platform joins on the correct identifier and proves it: any highlighted cell's centerpoint can be pulled independently and checked against where it should actually sit.</a:t>
            </a:r>
          </a:p>
        </p:txBody>
      </p:sp>
      <p:sp>
        <p:nvSpPr>
          <p:cNvPr id="11" name="Rounded Rectangle 10"/>
          <p:cNvSpPr/>
          <p:nvPr/>
        </p:nvSpPr>
        <p:spPr>
          <a:xfrm>
            <a:off x="548640" y="5532120"/>
            <a:ext cx="11064240" cy="685800"/>
          </a:xfrm>
          <a:prstGeom prst="roundRect">
            <a:avLst/>
          </a:prstGeom>
          <a:solidFill>
            <a:srgbClr val="EEF2F5"/>
          </a:solidFill>
          <a:ln w="12700">
            <a:solidFill>
              <a:srgbClr val="2E6C8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50" b="1">
                <a:solidFill>
                  <a:srgbClr val="2E6C8E"/>
                </a:solidFill>
                <a:latin typeface="Segoe UI"/>
              </a:rPr>
              <a:t>PROOF POINT   </a:t>
            </a:r>
            <a:r>
              <a:rPr sz="1250" b="0">
                <a:solidFill>
                  <a:srgbClr val="1E2830"/>
                </a:solidFill>
                <a:latin typeface="Segoe UI"/>
              </a:rPr>
              <a:t>That's the difference between a map that looks right and a map that is right.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FEATURE 6   </a:t>
            </a:r>
            <a:r>
              <a:rPr sz="2600" b="1">
                <a:solidFill>
                  <a:srgbClr val="FFFFFF"/>
                </a:solidFill>
                <a:latin typeface="Segoe UI"/>
              </a:rPr>
              <a:t>Rule-Based Alerts</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10</a:t>
            </a:r>
          </a:p>
        </p:txBody>
      </p:sp>
      <p:sp>
        <p:nvSpPr>
          <p:cNvPr id="7" name="TextBox 6"/>
          <p:cNvSpPr txBox="1"/>
          <p:nvPr/>
        </p:nvSpPr>
        <p:spPr>
          <a:xfrm>
            <a:off x="548640" y="1417320"/>
            <a:ext cx="11064240" cy="365760"/>
          </a:xfrm>
          <a:prstGeom prst="rect">
            <a:avLst/>
          </a:prstGeom>
          <a:noFill/>
        </p:spPr>
        <p:txBody>
          <a:bodyPr wrap="square" anchor="t">
            <a:spAutoFit/>
          </a:bodyPr>
          <a:lstStyle/>
          <a:p>
            <a:r>
              <a:rPr sz="1300" b="1">
                <a:solidFill>
                  <a:srgbClr val="DD7A2E"/>
                </a:solidFill>
                <a:latin typeface="Segoe UI"/>
              </a:rPr>
              <a:t>WHAT IT DOES</a:t>
            </a:r>
          </a:p>
        </p:txBody>
      </p:sp>
      <p:sp>
        <p:nvSpPr>
          <p:cNvPr id="8" name="TextBox 7"/>
          <p:cNvSpPr txBox="1"/>
          <p:nvPr/>
        </p:nvSpPr>
        <p:spPr>
          <a:xfrm>
            <a:off x="548640" y="1801368"/>
            <a:ext cx="11064240" cy="1280160"/>
          </a:xfrm>
          <a:prstGeom prst="rect">
            <a:avLst/>
          </a:prstGeom>
          <a:noFill/>
        </p:spPr>
        <p:txBody>
          <a:bodyPr wrap="square" anchor="t">
            <a:spAutoFit/>
          </a:bodyPr>
          <a:lstStyle/>
          <a:p>
            <a:r>
              <a:rPr sz="1550" b="0">
                <a:solidFill>
                  <a:srgbClr val="1E2830"/>
                </a:solidFill>
                <a:latin typeface="Segoe UI"/>
              </a:rPr>
              <a:t>A transparent, explainable first layer of detection - each cell's current activity is compared against its own recent baseline, and three plain rules fire when activity is materially high, materially low, or spiking sharply versus the previous hour. Every alert carries a human-readable reason.</a:t>
            </a:r>
          </a:p>
        </p:txBody>
      </p:sp>
      <p:sp>
        <p:nvSpPr>
          <p:cNvPr id="9" name="TextBox 8"/>
          <p:cNvSpPr txBox="1"/>
          <p:nvPr/>
        </p:nvSpPr>
        <p:spPr>
          <a:xfrm>
            <a:off x="548640" y="3246120"/>
            <a:ext cx="11064240" cy="365760"/>
          </a:xfrm>
          <a:prstGeom prst="rect">
            <a:avLst/>
          </a:prstGeom>
          <a:noFill/>
        </p:spPr>
        <p:txBody>
          <a:bodyPr wrap="square" anchor="t">
            <a:spAutoFit/>
          </a:bodyPr>
          <a:lstStyle/>
          <a:p>
            <a:r>
              <a:rPr sz="1300" b="1">
                <a:solidFill>
                  <a:srgbClr val="2E6C8E"/>
                </a:solidFill>
                <a:latin typeface="Segoe UI"/>
              </a:rPr>
              <a:t>WHY IT MATTERS</a:t>
            </a:r>
          </a:p>
        </p:txBody>
      </p:sp>
      <p:sp>
        <p:nvSpPr>
          <p:cNvPr id="10" name="TextBox 9"/>
          <p:cNvSpPr txBox="1"/>
          <p:nvPr/>
        </p:nvSpPr>
        <p:spPr>
          <a:xfrm>
            <a:off x="548640" y="3630168"/>
            <a:ext cx="11064240" cy="1463040"/>
          </a:xfrm>
          <a:prstGeom prst="rect">
            <a:avLst/>
          </a:prstGeom>
          <a:noFill/>
        </p:spPr>
        <p:txBody>
          <a:bodyPr wrap="square" anchor="t">
            <a:spAutoFit/>
          </a:bodyPr>
          <a:lstStyle/>
          <a:p>
            <a:r>
              <a:rPr sz="1550" b="0">
                <a:solidFill>
                  <a:srgbClr val="1E2830"/>
                </a:solidFill>
                <a:latin typeface="Segoe UI"/>
              </a:rPr>
              <a:t>No black box. An operator (or an auditor) can read the rule and the number and understand exactly why an alert fired - before any machine learning is involved at 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FEATURE 7   </a:t>
            </a:r>
            <a:r>
              <a:rPr sz="2600" b="1">
                <a:solidFill>
                  <a:srgbClr val="FFFFFF"/>
                </a:solidFill>
                <a:latin typeface="Segoe UI"/>
              </a:rPr>
              <a:t>Predictive Risk Scoring</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11</a:t>
            </a:r>
          </a:p>
        </p:txBody>
      </p:sp>
      <p:sp>
        <p:nvSpPr>
          <p:cNvPr id="7" name="TextBox 6"/>
          <p:cNvSpPr txBox="1"/>
          <p:nvPr/>
        </p:nvSpPr>
        <p:spPr>
          <a:xfrm>
            <a:off x="548640" y="1417320"/>
            <a:ext cx="11064240" cy="365760"/>
          </a:xfrm>
          <a:prstGeom prst="rect">
            <a:avLst/>
          </a:prstGeom>
          <a:noFill/>
        </p:spPr>
        <p:txBody>
          <a:bodyPr wrap="square" anchor="t">
            <a:spAutoFit/>
          </a:bodyPr>
          <a:lstStyle/>
          <a:p>
            <a:r>
              <a:rPr sz="1300" b="1">
                <a:solidFill>
                  <a:srgbClr val="DD7A2E"/>
                </a:solidFill>
                <a:latin typeface="Segoe UI"/>
              </a:rPr>
              <a:t>WHAT IT DOES</a:t>
            </a:r>
          </a:p>
        </p:txBody>
      </p:sp>
      <p:sp>
        <p:nvSpPr>
          <p:cNvPr id="8" name="TextBox 7"/>
          <p:cNvSpPr txBox="1"/>
          <p:nvPr/>
        </p:nvSpPr>
        <p:spPr>
          <a:xfrm>
            <a:off x="548640" y="1801368"/>
            <a:ext cx="11064240" cy="1280160"/>
          </a:xfrm>
          <a:prstGeom prst="rect">
            <a:avLst/>
          </a:prstGeom>
          <a:noFill/>
        </p:spPr>
        <p:txBody>
          <a:bodyPr wrap="square" anchor="t">
            <a:spAutoFit/>
          </a:bodyPr>
          <a:lstStyle/>
          <a:p>
            <a:r>
              <a:rPr sz="1550" b="0">
                <a:solidFill>
                  <a:srgbClr val="1E2830"/>
                </a:solidFill>
                <a:latin typeface="Segoe UI"/>
              </a:rPr>
              <a:t>A live machine-learning model estimates the probability that a grid cell is about to see an activity surge in the next hour, from six engineered features describing its trailing 24-hour behavior - how active, how peaky, how erratic, how fast-growing, how internet-heavy.</a:t>
            </a:r>
          </a:p>
        </p:txBody>
      </p:sp>
      <p:sp>
        <p:nvSpPr>
          <p:cNvPr id="9" name="TextBox 8"/>
          <p:cNvSpPr txBox="1"/>
          <p:nvPr/>
        </p:nvSpPr>
        <p:spPr>
          <a:xfrm>
            <a:off x="548640" y="3246120"/>
            <a:ext cx="11064240" cy="365760"/>
          </a:xfrm>
          <a:prstGeom prst="rect">
            <a:avLst/>
          </a:prstGeom>
          <a:noFill/>
        </p:spPr>
        <p:txBody>
          <a:bodyPr wrap="square" anchor="t">
            <a:spAutoFit/>
          </a:bodyPr>
          <a:lstStyle/>
          <a:p>
            <a:r>
              <a:rPr sz="1300" b="1">
                <a:solidFill>
                  <a:srgbClr val="2E6C8E"/>
                </a:solidFill>
                <a:latin typeface="Segoe UI"/>
              </a:rPr>
              <a:t>WHY IT MATTERS</a:t>
            </a:r>
          </a:p>
        </p:txBody>
      </p:sp>
      <p:sp>
        <p:nvSpPr>
          <p:cNvPr id="10" name="TextBox 9"/>
          <p:cNvSpPr txBox="1"/>
          <p:nvPr/>
        </p:nvSpPr>
        <p:spPr>
          <a:xfrm>
            <a:off x="548640" y="3630168"/>
            <a:ext cx="11064240" cy="1463040"/>
          </a:xfrm>
          <a:prstGeom prst="rect">
            <a:avLst/>
          </a:prstGeom>
          <a:noFill/>
        </p:spPr>
        <p:txBody>
          <a:bodyPr wrap="square" anchor="t">
            <a:spAutoFit/>
          </a:bodyPr>
          <a:lstStyle/>
          <a:p>
            <a:r>
              <a:rPr sz="1550" b="0">
                <a:solidFill>
                  <a:srgbClr val="1E2830"/>
                </a:solidFill>
                <a:latin typeface="Segoe UI"/>
              </a:rPr>
              <a:t>The model predicts the next hour using only past data - never the same window it's being scored on - and it's evaluated on a strictly time-ordered split. That discipline is what makes the score real instead of a number that looks good on a slide and means nothing in production.</a:t>
            </a:r>
          </a:p>
        </p:txBody>
      </p:sp>
      <p:sp>
        <p:nvSpPr>
          <p:cNvPr id="11" name="Rounded Rectangle 10"/>
          <p:cNvSpPr/>
          <p:nvPr/>
        </p:nvSpPr>
        <p:spPr>
          <a:xfrm>
            <a:off x="548640" y="5532120"/>
            <a:ext cx="3515258" cy="7772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70.6%</a:t>
            </a:r>
          </a:p>
          <a:p>
            <a:pPr algn="ctr">
              <a:spcBef>
                <a:spcPts val="400"/>
              </a:spcBef>
            </a:pPr>
            <a:r>
              <a:rPr sz="1150" b="0">
                <a:solidFill>
                  <a:srgbClr val="C5D3DE"/>
                </a:solidFill>
                <a:latin typeface="Segoe UI"/>
              </a:rPr>
              <a:t>Test accuracy - deliberately below the 91% "always quiet" baseline</a:t>
            </a:r>
          </a:p>
        </p:txBody>
      </p:sp>
      <p:sp>
        <p:nvSpPr>
          <p:cNvPr id="12" name="Rounded Rectangle 11"/>
          <p:cNvSpPr/>
          <p:nvPr/>
        </p:nvSpPr>
        <p:spPr>
          <a:xfrm>
            <a:off x="4338218" y="5532120"/>
            <a:ext cx="3515258" cy="7772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68%</a:t>
            </a:r>
          </a:p>
          <a:p>
            <a:pPr algn="ctr">
              <a:spcBef>
                <a:spcPts val="400"/>
              </a:spcBef>
            </a:pPr>
            <a:r>
              <a:rPr sz="1150" b="0">
                <a:solidFill>
                  <a:srgbClr val="C5D3DE"/>
                </a:solidFill>
                <a:latin typeface="Segoe UI"/>
              </a:rPr>
              <a:t>Recall - catches ~2 in 3 real activity surges</a:t>
            </a:r>
          </a:p>
        </p:txBody>
      </p:sp>
      <p:sp>
        <p:nvSpPr>
          <p:cNvPr id="13" name="Rounded Rectangle 12"/>
          <p:cNvSpPr/>
          <p:nvPr/>
        </p:nvSpPr>
        <p:spPr>
          <a:xfrm>
            <a:off x="8127796" y="5532120"/>
            <a:ext cx="3515258" cy="7772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19.5%</a:t>
            </a:r>
          </a:p>
          <a:p>
            <a:pPr algn="ctr">
              <a:spcBef>
                <a:spcPts val="400"/>
              </a:spcBef>
            </a:pPr>
            <a:r>
              <a:rPr sz="1150" b="0">
                <a:solidFill>
                  <a:srgbClr val="C5D3DE"/>
                </a:solidFill>
                <a:latin typeface="Segoe UI"/>
              </a:rPr>
              <a:t>Precision - an attention filter, not an automated trigger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FEATURE 8   </a:t>
            </a:r>
            <a:r>
              <a:rPr sz="2600" b="1">
                <a:solidFill>
                  <a:srgbClr val="FFFFFF"/>
                </a:solidFill>
                <a:latin typeface="Segoe UI"/>
              </a:rPr>
              <a:t>Anomaly Detection</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12</a:t>
            </a:r>
          </a:p>
        </p:txBody>
      </p:sp>
      <p:sp>
        <p:nvSpPr>
          <p:cNvPr id="7" name="TextBox 6"/>
          <p:cNvSpPr txBox="1"/>
          <p:nvPr/>
        </p:nvSpPr>
        <p:spPr>
          <a:xfrm>
            <a:off x="548640" y="1417320"/>
            <a:ext cx="11064240" cy="365760"/>
          </a:xfrm>
          <a:prstGeom prst="rect">
            <a:avLst/>
          </a:prstGeom>
          <a:noFill/>
        </p:spPr>
        <p:txBody>
          <a:bodyPr wrap="square" anchor="t">
            <a:spAutoFit/>
          </a:bodyPr>
          <a:lstStyle/>
          <a:p>
            <a:r>
              <a:rPr sz="1300" b="1">
                <a:solidFill>
                  <a:srgbClr val="DD7A2E"/>
                </a:solidFill>
                <a:latin typeface="Segoe UI"/>
              </a:rPr>
              <a:t>WHAT IT DOES</a:t>
            </a:r>
          </a:p>
        </p:txBody>
      </p:sp>
      <p:sp>
        <p:nvSpPr>
          <p:cNvPr id="8" name="TextBox 7"/>
          <p:cNvSpPr txBox="1"/>
          <p:nvPr/>
        </p:nvSpPr>
        <p:spPr>
          <a:xfrm>
            <a:off x="548640" y="1801368"/>
            <a:ext cx="11064240" cy="1280160"/>
          </a:xfrm>
          <a:prstGeom prst="rect">
            <a:avLst/>
          </a:prstGeom>
          <a:noFill/>
        </p:spPr>
        <p:txBody>
          <a:bodyPr wrap="square" anchor="t">
            <a:spAutoFit/>
          </a:bodyPr>
          <a:lstStyle/>
          <a:p>
            <a:r>
              <a:rPr sz="1550" b="0">
                <a:solidFill>
                  <a:srgbClr val="1E2830"/>
                </a:solidFill>
                <a:latin typeface="Segoe UI"/>
              </a:rPr>
              <a:t>A second, independent signal - not "is this predicted to surge," but "is this unusual for this specific cell at this specific hour of day," based on its own history. A cell that's normally quiet at 3am is judged against its own 3am baseline, not a network-wide average.</a:t>
            </a:r>
          </a:p>
        </p:txBody>
      </p:sp>
      <p:sp>
        <p:nvSpPr>
          <p:cNvPr id="9" name="TextBox 8"/>
          <p:cNvSpPr txBox="1"/>
          <p:nvPr/>
        </p:nvSpPr>
        <p:spPr>
          <a:xfrm>
            <a:off x="548640" y="3246120"/>
            <a:ext cx="11064240" cy="365760"/>
          </a:xfrm>
          <a:prstGeom prst="rect">
            <a:avLst/>
          </a:prstGeom>
          <a:noFill/>
        </p:spPr>
        <p:txBody>
          <a:bodyPr wrap="square" anchor="t">
            <a:spAutoFit/>
          </a:bodyPr>
          <a:lstStyle/>
          <a:p>
            <a:r>
              <a:rPr sz="1300" b="1">
                <a:solidFill>
                  <a:srgbClr val="2E6C8E"/>
                </a:solidFill>
                <a:latin typeface="Segoe UI"/>
              </a:rPr>
              <a:t>WHY IT MATTERS</a:t>
            </a:r>
          </a:p>
        </p:txBody>
      </p:sp>
      <p:sp>
        <p:nvSpPr>
          <p:cNvPr id="10" name="TextBox 9"/>
          <p:cNvSpPr txBox="1"/>
          <p:nvPr/>
        </p:nvSpPr>
        <p:spPr>
          <a:xfrm>
            <a:off x="548640" y="3630168"/>
            <a:ext cx="11064240" cy="1463040"/>
          </a:xfrm>
          <a:prstGeom prst="rect">
            <a:avLst/>
          </a:prstGeom>
          <a:noFill/>
        </p:spPr>
        <p:txBody>
          <a:bodyPr wrap="square" anchor="t">
            <a:spAutoFit/>
          </a:bodyPr>
          <a:lstStyle/>
          <a:p>
            <a:r>
              <a:rPr sz="1550" b="0">
                <a:solidFill>
                  <a:srgbClr val="1E2830"/>
                </a:solidFill>
                <a:latin typeface="Segoe UI"/>
              </a:rPr>
              <a:t>Three signals - the transparent rule, the predictive model, and this historical-anomaly check - see three different things. When they agree, an operator has high confidence fast. When they disagree, that disagreement is surfaced as information, not smoothed away.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144000" cy="914400"/>
          </a:xfrm>
          <a:prstGeom prst="rect">
            <a:avLst/>
          </a:prstGeom>
          <a:noFill/>
        </p:spPr>
        <p:txBody>
          <a:bodyPr wrap="square" anchor="ctr">
            <a:spAutoFit/>
          </a:bodyPr>
          <a:lstStyle/>
          <a:p>
            <a:r>
              <a:rPr sz="1300" b="1">
                <a:solidFill>
                  <a:srgbClr val="DD7A2E"/>
                </a:solidFill>
                <a:latin typeface="Segoe UI"/>
              </a:rPr>
              <a:t>LIVE DEMO</a:t>
            </a:r>
          </a:p>
        </p:txBody>
      </p:sp>
      <p:sp>
        <p:nvSpPr>
          <p:cNvPr id="5" name="TextBox 4"/>
          <p:cNvSpPr txBox="1"/>
          <p:nvPr/>
        </p:nvSpPr>
        <p:spPr>
          <a:xfrm>
            <a:off x="640080" y="640080"/>
            <a:ext cx="10515600" cy="731520"/>
          </a:xfrm>
          <a:prstGeom prst="rect">
            <a:avLst/>
          </a:prstGeom>
          <a:noFill/>
        </p:spPr>
        <p:txBody>
          <a:bodyPr wrap="square" anchor="t">
            <a:spAutoFit/>
          </a:bodyPr>
          <a:lstStyle/>
          <a:p>
            <a:r>
              <a:rPr sz="2600" b="1">
                <a:solidFill>
                  <a:srgbClr val="FFFFFF"/>
                </a:solidFill>
                <a:latin typeface="Segoe UI Light"/>
              </a:rPr>
              <a:t>Feature 9: The AI Assistant (~90-120 sec)</a:t>
            </a:r>
          </a:p>
        </p:txBody>
      </p:sp>
      <p:sp>
        <p:nvSpPr>
          <p:cNvPr id="6" name="TextBox 5"/>
          <p:cNvSpPr txBox="1"/>
          <p:nvPr/>
        </p:nvSpPr>
        <p:spPr>
          <a:xfrm>
            <a:off x="822960" y="1920240"/>
            <a:ext cx="10424160" cy="4206240"/>
          </a:xfrm>
          <a:prstGeom prst="rect">
            <a:avLst/>
          </a:prstGeom>
          <a:noFill/>
        </p:spPr>
        <p:txBody>
          <a:bodyPr wrap="square" anchor="t">
            <a:spAutoFit/>
          </a:bodyPr>
          <a:lstStyle/>
          <a:p>
            <a:pPr>
              <a:spcAft>
                <a:spcPts val="1200"/>
              </a:spcAft>
            </a:pPr>
            <a:r>
              <a:rPr sz="1500" b="1">
                <a:solidFill>
                  <a:srgbClr val="DD7A2E"/>
                </a:solidFill>
                <a:latin typeface="Segoe UI"/>
              </a:rPr>
              <a:t>1.  </a:t>
            </a:r>
            <a:r>
              <a:rPr sz="1500" b="0">
                <a:solidFill>
                  <a:srgbClr val="E7ECF0"/>
                </a:solidFill>
                <a:latin typeface="Segoe UI"/>
              </a:rPr>
              <a:t>Switch to the AI assistant window.</a:t>
            </a:r>
          </a:p>
          <a:p>
            <a:pPr>
              <a:spcAft>
                <a:spcPts val="1200"/>
              </a:spcAft>
            </a:pPr>
            <a:r>
              <a:rPr sz="1500" b="1">
                <a:solidFill>
                  <a:srgbClr val="DD7A2E"/>
                </a:solidFill>
                <a:latin typeface="Segoe UI"/>
              </a:rPr>
              <a:t>2.  </a:t>
            </a:r>
            <a:r>
              <a:rPr sz="1500" b="0">
                <a:solidFill>
                  <a:srgbClr val="E7ECF0"/>
                </a:solidFill>
                <a:latin typeface="Segoe UI"/>
              </a:rPr>
              <a:t>If pipeline status is healthy, ask: "What's the network situation for the last hour?"</a:t>
            </a:r>
          </a:p>
          <a:p>
            <a:pPr>
              <a:spcAft>
                <a:spcPts val="1200"/>
              </a:spcAft>
            </a:pPr>
            <a:r>
              <a:rPr sz="1500" b="1">
                <a:solidFill>
                  <a:srgbClr val="DD7A2E"/>
                </a:solidFill>
                <a:latin typeface="Segoe UI"/>
              </a:rPr>
              <a:t>3.  </a:t>
            </a:r>
            <a:r>
              <a:rPr sz="1500" b="0">
                <a:solidFill>
                  <a:srgbClr val="E7ECF0"/>
                </a:solidFill>
                <a:latin typeface="Segoe UI"/>
              </a:rPr>
              <a:t>Narrate as it runs: pipeline status first, then summary, then hotspots - before it says a word.</a:t>
            </a:r>
          </a:p>
          <a:p>
            <a:pPr>
              <a:spcAft>
                <a:spcPts val="1200"/>
              </a:spcAft>
            </a:pPr>
            <a:r>
              <a:rPr sz="1500" b="1">
                <a:solidFill>
                  <a:srgbClr val="DD7A2E"/>
                </a:solidFill>
                <a:latin typeface="Segoe UI"/>
              </a:rPr>
              <a:t>4.  </a:t>
            </a:r>
            <a:r>
              <a:rPr sz="1500" b="0">
                <a:solidFill>
                  <a:srgbClr val="E7ECF0"/>
                </a:solidFill>
                <a:latin typeface="Segoe UI"/>
              </a:rPr>
              <a:t>Point to the four sections as they render: Severity, Evidence, Interpretation, Next Checks.</a:t>
            </a:r>
          </a:p>
          <a:p>
            <a:pPr>
              <a:spcAft>
                <a:spcPts val="1200"/>
              </a:spcAft>
            </a:pPr>
            <a:r>
              <a:rPr sz="1500" b="1">
                <a:solidFill>
                  <a:srgbClr val="DD7A2E"/>
                </a:solidFill>
                <a:latin typeface="Segoe UI"/>
              </a:rPr>
              <a:t>5.  </a:t>
            </a:r>
            <a:r>
              <a:rPr sz="1500" b="0">
                <a:solidFill>
                  <a:srgbClr val="E7ECF0"/>
                </a:solidFill>
                <a:latin typeface="Segoe UI"/>
              </a:rPr>
              <a:t>If pipeline status is unhealthy instead, ask the same question and narrate: "Watch what happens when the pipeline itself isn't healthy" - it reports the gap rather than answering anyway.</a:t>
            </a:r>
          </a:p>
          <a:p>
            <a:pPr>
              <a:spcAft>
                <a:spcPts val="1200"/>
              </a:spcAft>
            </a:pPr>
            <a:r>
              <a:rPr sz="1500" b="1">
                <a:solidFill>
                  <a:srgbClr val="DD7A2E"/>
                </a:solidFill>
                <a:latin typeface="Segoe UI"/>
              </a:rPr>
              <a:t>6.  </a:t>
            </a:r>
            <a:r>
              <a:rPr sz="1500" b="0">
                <a:solidFill>
                  <a:srgbClr val="E7ECF0"/>
                </a:solidFill>
                <a:latin typeface="Segoe UI"/>
              </a:rPr>
              <a:t>Return to slides: "Nothing here was invented - every number came from a real tool call."</a:t>
            </a:r>
          </a:p>
        </p:txBody>
      </p:sp>
      <p:sp>
        <p:nvSpPr>
          <p:cNvPr id="7" name="TextBox 6"/>
          <p:cNvSpPr txBox="1"/>
          <p:nvPr/>
        </p:nvSpPr>
        <p:spPr>
          <a:xfrm>
            <a:off x="11338560" y="6419088"/>
            <a:ext cx="548640" cy="365760"/>
          </a:xfrm>
          <a:prstGeom prst="rect">
            <a:avLst/>
          </a:prstGeom>
          <a:noFill/>
        </p:spPr>
        <p:txBody>
          <a:bodyPr wrap="square" anchor="t">
            <a:spAutoFit/>
          </a:bodyPr>
          <a:lstStyle/>
          <a:p>
            <a:pPr algn="r"/>
            <a:r>
              <a:rPr sz="900" b="0">
                <a:solidFill>
                  <a:srgbClr val="8FA6B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RIGOR   </a:t>
            </a:r>
            <a:r>
              <a:rPr sz="2600" b="1">
                <a:solidFill>
                  <a:srgbClr val="FFFFFF"/>
                </a:solidFill>
                <a:latin typeface="Segoe UI"/>
              </a:rPr>
              <a:t>Why You Can Trust Every Number On Screen</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14</a:t>
            </a:r>
          </a:p>
        </p:txBody>
      </p:sp>
      <p:sp>
        <p:nvSpPr>
          <p:cNvPr id="7" name="TextBox 6"/>
          <p:cNvSpPr txBox="1"/>
          <p:nvPr/>
        </p:nvSpPr>
        <p:spPr>
          <a:xfrm>
            <a:off x="548640" y="2286000"/>
            <a:ext cx="10972800" cy="3840480"/>
          </a:xfrm>
          <a:prstGeom prst="rect">
            <a:avLst/>
          </a:prstGeom>
          <a:noFill/>
        </p:spPr>
        <p:txBody>
          <a:bodyPr wrap="square" anchor="t">
            <a:spAutoFit/>
          </a:bodyPr>
          <a:lstStyle/>
          <a:p>
            <a:pPr>
              <a:spcAft>
                <a:spcPts val="1000"/>
              </a:spcAft>
            </a:pPr>
            <a:r>
              <a:rPr sz="1500" b="1">
                <a:solidFill>
                  <a:srgbClr val="DD7A2E"/>
                </a:solidFill>
                <a:latin typeface="Segoe UI"/>
              </a:rPr>
              <a:t>•  </a:t>
            </a:r>
            <a:r>
              <a:rPr sz="1500" b="0">
                <a:solidFill>
                  <a:srgbClr val="1E2830"/>
                </a:solidFill>
                <a:latin typeface="Segoe UI"/>
              </a:rPr>
              <a:t>The core grain rule - one row per grid cell per hour - is enforced in code, in three separate places, including the warehouse's own primary key.</a:t>
            </a:r>
          </a:p>
          <a:p>
            <a:pPr>
              <a:spcAft>
                <a:spcPts val="1000"/>
              </a:spcAft>
            </a:pPr>
            <a:r>
              <a:rPr sz="1500" b="1">
                <a:solidFill>
                  <a:srgbClr val="DD7A2E"/>
                </a:solidFill>
                <a:latin typeface="Segoe UI"/>
              </a:rPr>
              <a:t>•  </a:t>
            </a:r>
            <a:r>
              <a:rPr sz="1500" b="0">
                <a:solidFill>
                  <a:srgbClr val="1E2830"/>
                </a:solidFill>
                <a:latin typeface="Segoe UI"/>
              </a:rPr>
              <a:t>The risk model trains on a strictly time-ordered split; it never sees the future.</a:t>
            </a:r>
          </a:p>
          <a:p>
            <a:pPr>
              <a:spcAft>
                <a:spcPts val="1000"/>
              </a:spcAft>
            </a:pPr>
            <a:r>
              <a:rPr sz="1500" b="1">
                <a:solidFill>
                  <a:srgbClr val="DD7A2E"/>
                </a:solidFill>
                <a:latin typeface="Segoe UI"/>
              </a:rPr>
              <a:t>•  </a:t>
            </a:r>
            <a:r>
              <a:rPr sz="1500" b="0">
                <a:solidFill>
                  <a:srgbClr val="1E2830"/>
                </a:solidFill>
                <a:latin typeface="Segoe UI"/>
              </a:rPr>
              <a:t>The vocabulary is deliberately strict: this system never claims “congestion”, because there is no capacity or throughput data anywhere in it - only proportional activity measures.</a:t>
            </a:r>
          </a:p>
          <a:p>
            <a:pPr>
              <a:spcAft>
                <a:spcPts val="1000"/>
              </a:spcAft>
            </a:pPr>
            <a:r>
              <a:rPr sz="1500" b="1">
                <a:solidFill>
                  <a:srgbClr val="DD7A2E"/>
                </a:solidFill>
                <a:latin typeface="Segoe UI"/>
              </a:rPr>
              <a:t>•  </a:t>
            </a:r>
            <a:r>
              <a:rPr sz="1500" b="0">
                <a:solidFill>
                  <a:srgbClr val="1E2830"/>
                </a:solidFill>
                <a:latin typeface="Segoe UI"/>
              </a:rPr>
              <a:t>The pipeline has been tested against deliberately injected failures - a missing file, a duplicate, a malformed timestamp, negative values, a schema change - and each one produces a distinguishable, honest status.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BY THE NUMBERS   </a:t>
            </a:r>
            <a:r>
              <a:rPr sz="2600" b="1">
                <a:solidFill>
                  <a:srgbClr val="FFFFFF"/>
                </a:solidFill>
                <a:latin typeface="Segoe UI"/>
              </a:rPr>
              <a:t>The Scale, Recap</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15</a:t>
            </a:r>
          </a:p>
        </p:txBody>
      </p:sp>
      <p:sp>
        <p:nvSpPr>
          <p:cNvPr id="7" name="Rounded Rectangle 6"/>
          <p:cNvSpPr/>
          <p:nvPr/>
        </p:nvSpPr>
        <p:spPr>
          <a:xfrm>
            <a:off x="548640" y="2194560"/>
            <a:ext cx="3515258" cy="16916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10,000</a:t>
            </a:r>
          </a:p>
          <a:p>
            <a:pPr algn="ctr">
              <a:spcBef>
                <a:spcPts val="400"/>
              </a:spcBef>
            </a:pPr>
            <a:r>
              <a:rPr sz="1150" b="0">
                <a:solidFill>
                  <a:srgbClr val="C5D3DE"/>
                </a:solidFill>
                <a:latin typeface="Segoe UI"/>
              </a:rPr>
              <a:t>Grid cells modeled (100x100 over Milan)</a:t>
            </a:r>
          </a:p>
        </p:txBody>
      </p:sp>
      <p:sp>
        <p:nvSpPr>
          <p:cNvPr id="8" name="Rounded Rectangle 7"/>
          <p:cNvSpPr/>
          <p:nvPr/>
        </p:nvSpPr>
        <p:spPr>
          <a:xfrm>
            <a:off x="4338218" y="2194560"/>
            <a:ext cx="3515258" cy="16916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1.68M</a:t>
            </a:r>
          </a:p>
          <a:p>
            <a:pPr algn="ctr">
              <a:spcBef>
                <a:spcPts val="400"/>
              </a:spcBef>
            </a:pPr>
            <a:r>
              <a:rPr sz="1150" b="0">
                <a:solidFill>
                  <a:srgbClr val="C5D3DE"/>
                </a:solidFill>
                <a:latin typeface="Segoe UI"/>
              </a:rPr>
              <a:t>Analytics records processed (grid-hours)</a:t>
            </a:r>
          </a:p>
        </p:txBody>
      </p:sp>
      <p:sp>
        <p:nvSpPr>
          <p:cNvPr id="9" name="Rounded Rectangle 8"/>
          <p:cNvSpPr/>
          <p:nvPr/>
        </p:nvSpPr>
        <p:spPr>
          <a:xfrm>
            <a:off x="8127796" y="2194560"/>
            <a:ext cx="3515258" cy="16916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15</a:t>
            </a:r>
          </a:p>
          <a:p>
            <a:pPr algn="ctr">
              <a:spcBef>
                <a:spcPts val="400"/>
              </a:spcBef>
            </a:pPr>
            <a:r>
              <a:rPr sz="1150" b="0">
                <a:solidFill>
                  <a:srgbClr val="C5D3DE"/>
                </a:solidFill>
                <a:latin typeface="Segoe UI"/>
              </a:rPr>
              <a:t>Quality gates per run - any failure fails the run</a:t>
            </a:r>
          </a:p>
        </p:txBody>
      </p:sp>
      <p:sp>
        <p:nvSpPr>
          <p:cNvPr id="10" name="Rounded Rectangle 9"/>
          <p:cNvSpPr/>
          <p:nvPr/>
        </p:nvSpPr>
        <p:spPr>
          <a:xfrm>
            <a:off x="548640" y="4114800"/>
            <a:ext cx="3515258" cy="16916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6</a:t>
            </a:r>
          </a:p>
          <a:p>
            <a:pPr algn="ctr">
              <a:spcBef>
                <a:spcPts val="400"/>
              </a:spcBef>
            </a:pPr>
            <a:r>
              <a:rPr sz="1150" b="0">
                <a:solidFill>
                  <a:srgbClr val="C5D3DE"/>
                </a:solidFill>
                <a:latin typeface="Segoe UI"/>
              </a:rPr>
              <a:t>Stable API endpoints</a:t>
            </a:r>
          </a:p>
        </p:txBody>
      </p:sp>
      <p:sp>
        <p:nvSpPr>
          <p:cNvPr id="11" name="Rounded Rectangle 10"/>
          <p:cNvSpPr/>
          <p:nvPr/>
        </p:nvSpPr>
        <p:spPr>
          <a:xfrm>
            <a:off x="4338218" y="4114800"/>
            <a:ext cx="3515258" cy="16916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6</a:t>
            </a:r>
          </a:p>
          <a:p>
            <a:pPr algn="ctr">
              <a:spcBef>
                <a:spcPts val="400"/>
              </a:spcBef>
            </a:pPr>
            <a:r>
              <a:rPr sz="1150" b="0">
                <a:solidFill>
                  <a:srgbClr val="C5D3DE"/>
                </a:solidFill>
                <a:latin typeface="Segoe UI"/>
              </a:rPr>
              <a:t>ML features per prediction</a:t>
            </a:r>
          </a:p>
        </p:txBody>
      </p:sp>
      <p:sp>
        <p:nvSpPr>
          <p:cNvPr id="12" name="Rounded Rectangle 11"/>
          <p:cNvSpPr/>
          <p:nvPr/>
        </p:nvSpPr>
        <p:spPr>
          <a:xfrm>
            <a:off x="8127796" y="4114800"/>
            <a:ext cx="3515258" cy="1691640"/>
          </a:xfrm>
          <a:prstGeom prst="round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Segoe UI"/>
              </a:rPr>
              <a:t>3</a:t>
            </a:r>
          </a:p>
          <a:p>
            <a:pPr algn="ctr">
              <a:spcBef>
                <a:spcPts val="400"/>
              </a:spcBef>
            </a:pPr>
            <a:r>
              <a:rPr sz="1150" b="0">
                <a:solidFill>
                  <a:srgbClr val="C5D3DE"/>
                </a:solidFill>
                <a:latin typeface="Segoe UI"/>
              </a:rPr>
              <a:t>Independent detection signals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
            <a:ext cx="11064240" cy="822960"/>
          </a:xfrm>
          <a:prstGeom prst="rect">
            <a:avLst/>
          </a:prstGeom>
          <a:noFill/>
        </p:spPr>
        <p:txBody>
          <a:bodyPr wrap="square" anchor="ctr">
            <a:spAutoFit/>
          </a:bodyPr>
          <a:lstStyle/>
          <a:p>
            <a:r>
              <a:rPr sz="1200" b="1">
                <a:solidFill>
                  <a:srgbClr val="DD7A2E"/>
                </a:solidFill>
                <a:latin typeface="Segoe UI"/>
              </a:rPr>
              <a:t>ROADMAP   </a:t>
            </a:r>
            <a:r>
              <a:rPr sz="2600" b="1">
                <a:solidFill>
                  <a:srgbClr val="FFFFFF"/>
                </a:solidFill>
                <a:latin typeface="Segoe UI"/>
              </a:rPr>
              <a:t>Where This Goes Next</a:t>
            </a:r>
          </a:p>
        </p:txBody>
      </p:sp>
      <p:sp>
        <p:nvSpPr>
          <p:cNvPr id="5" name="TextBox 4"/>
          <p:cNvSpPr txBox="1"/>
          <p:nvPr/>
        </p:nvSpPr>
        <p:spPr>
          <a:xfrm>
            <a:off x="548640" y="6419088"/>
            <a:ext cx="8229600" cy="365760"/>
          </a:xfrm>
          <a:prstGeom prst="rect">
            <a:avLst/>
          </a:prstGeom>
          <a:noFill/>
        </p:spPr>
        <p:txBody>
          <a:bodyPr wrap="square" anchor="t">
            <a:spAutoFit/>
          </a:bodyPr>
          <a:lstStyle/>
          <a:p>
            <a:r>
              <a:rPr sz="900" b="0">
                <a:solidFill>
                  <a:srgbClr val="53626E"/>
                </a:solidFill>
                <a:latin typeface="Segoe UI"/>
              </a:rPr>
              <a:t>Network Operations &amp; Predictive Intelligence</a:t>
            </a:r>
          </a:p>
        </p:txBody>
      </p:sp>
      <p:sp>
        <p:nvSpPr>
          <p:cNvPr id="6" name="TextBox 5"/>
          <p:cNvSpPr txBox="1"/>
          <p:nvPr/>
        </p:nvSpPr>
        <p:spPr>
          <a:xfrm>
            <a:off x="11338560" y="6419088"/>
            <a:ext cx="548640" cy="365760"/>
          </a:xfrm>
          <a:prstGeom prst="rect">
            <a:avLst/>
          </a:prstGeom>
          <a:noFill/>
        </p:spPr>
        <p:txBody>
          <a:bodyPr wrap="square" anchor="t">
            <a:spAutoFit/>
          </a:bodyPr>
          <a:lstStyle/>
          <a:p>
            <a:pPr algn="r"/>
            <a:r>
              <a:rPr sz="900" b="0">
                <a:solidFill>
                  <a:srgbClr val="53626E"/>
                </a:solidFill>
                <a:latin typeface="Segoe UI"/>
              </a:rPr>
              <a:t>16</a:t>
            </a:r>
          </a:p>
        </p:txBody>
      </p:sp>
      <p:sp>
        <p:nvSpPr>
          <p:cNvPr id="7" name="TextBox 6"/>
          <p:cNvSpPr txBox="1"/>
          <p:nvPr/>
        </p:nvSpPr>
        <p:spPr>
          <a:xfrm>
            <a:off x="548640" y="2286000"/>
            <a:ext cx="10972800" cy="3840480"/>
          </a:xfrm>
          <a:prstGeom prst="rect">
            <a:avLst/>
          </a:prstGeom>
          <a:noFill/>
        </p:spPr>
        <p:txBody>
          <a:bodyPr wrap="square" anchor="t">
            <a:spAutoFit/>
          </a:bodyPr>
          <a:lstStyle/>
          <a:p>
            <a:pPr>
              <a:spcAft>
                <a:spcPts val="1000"/>
              </a:spcAft>
            </a:pPr>
            <a:r>
              <a:rPr sz="1500" b="1">
                <a:solidFill>
                  <a:srgbClr val="DD7A2E"/>
                </a:solidFill>
                <a:latin typeface="Segoe UI"/>
              </a:rPr>
              <a:t>•  </a:t>
            </a:r>
            <a:r>
              <a:rPr sz="1500" b="0">
                <a:solidFill>
                  <a:srgbClr val="1E2830"/>
                </a:solidFill>
                <a:latin typeface="Segoe UI"/>
              </a:rPr>
              <a:t>Wire the ML risk scores directly into the hotspot ranking view.</a:t>
            </a:r>
          </a:p>
          <a:p>
            <a:pPr>
              <a:spcAft>
                <a:spcPts val="1000"/>
              </a:spcAft>
            </a:pPr>
            <a:r>
              <a:rPr sz="1500" b="1">
                <a:solidFill>
                  <a:srgbClr val="DD7A2E"/>
                </a:solidFill>
                <a:latin typeface="Segoe UI"/>
              </a:rPr>
              <a:t>•  </a:t>
            </a:r>
            <a:r>
              <a:rPr sz="1500" b="0">
                <a:solidFill>
                  <a:srgbClr val="1E2830"/>
                </a:solidFill>
                <a:latin typeface="Segoe UI"/>
              </a:rPr>
              <a:t>Replace the remaining hardcoded alert thresholds with the full rule engine.</a:t>
            </a:r>
          </a:p>
          <a:p>
            <a:pPr>
              <a:spcAft>
                <a:spcPts val="1000"/>
              </a:spcAft>
            </a:pPr>
            <a:r>
              <a:rPr sz="1500" b="1">
                <a:solidFill>
                  <a:srgbClr val="DD7A2E"/>
                </a:solidFill>
                <a:latin typeface="Segoe UI"/>
              </a:rPr>
              <a:t>•  </a:t>
            </a:r>
            <a:r>
              <a:rPr sz="1500" b="0">
                <a:solidFill>
                  <a:srgbClr val="1E2830"/>
                </a:solidFill>
                <a:latin typeface="Segoe UI"/>
              </a:rPr>
              <a:t>Expose the platform's tools over a standard protocol (MCP) so any AI surface can investigate a grid the same, grounded way.</a:t>
            </a:r>
          </a:p>
          <a:p>
            <a:pPr>
              <a:spcAft>
                <a:spcPts val="1000"/>
              </a:spcAft>
            </a:pPr>
            <a:r>
              <a:rPr sz="1500" b="1">
                <a:solidFill>
                  <a:srgbClr val="DD7A2E"/>
                </a:solidFill>
                <a:latin typeface="Segoe UI"/>
              </a:rPr>
              <a:t>•  </a:t>
            </a:r>
            <a:r>
              <a:rPr sz="1500" b="0">
                <a:solidFill>
                  <a:srgbClr val="1E2830"/>
                </a:solidFill>
                <a:latin typeface="Segoe UI"/>
              </a:rPr>
              <a:t>Keep accumulating history - the anomaly baseline gets sharper with every additional day of data.</a:t>
            </a:r>
          </a:p>
          <a:p>
            <a:pPr>
              <a:spcAft>
                <a:spcPts val="1000"/>
              </a:spcAft>
            </a:pPr>
            <a:r>
              <a:rPr sz="1500" b="1">
                <a:solidFill>
                  <a:srgbClr val="DD7A2E"/>
                </a:solidFill>
                <a:latin typeface="Segoe UI"/>
              </a:rPr>
              <a:t>•  </a:t>
            </a:r>
            <a:r>
              <a:rPr sz="1500" b="0">
                <a:solidFill>
                  <a:srgbClr val="1E2830"/>
                </a:solidFill>
                <a:latin typeface="Segoe UI"/>
              </a:rPr>
              <a:t>Point ingestion at a real live feed - the architecture doesn't change, only the source.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286000"/>
            <a:ext cx="109728" cy="2194560"/>
          </a:xfrm>
          <a:prstGeom prst="rect">
            <a:avLst/>
          </a:prstGeom>
          <a:solidFill>
            <a:srgbClr val="DD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148840"/>
            <a:ext cx="10058400" cy="2560320"/>
          </a:xfrm>
          <a:prstGeom prst="rect">
            <a:avLst/>
          </a:prstGeom>
          <a:noFill/>
        </p:spPr>
        <p:txBody>
          <a:bodyPr wrap="square" anchor="ctr">
            <a:spAutoFit/>
          </a:bodyPr>
          <a:lstStyle/>
          <a:p>
            <a:r>
              <a:rPr sz="2400" b="1">
                <a:solidFill>
                  <a:srgbClr val="FFFFFF"/>
                </a:solidFill>
                <a:latin typeface="Segoe UI Light"/>
              </a:rPr>
              <a:t>Data tells you what happened.
Machine learning tells you if it's unusual.
The AI layer tells you what it means and what to check next.</a:t>
            </a:r>
          </a:p>
        </p:txBody>
      </p:sp>
      <p:sp>
        <p:nvSpPr>
          <p:cNvPr id="5" name="TextBox 4"/>
          <p:cNvSpPr txBox="1"/>
          <p:nvPr/>
        </p:nvSpPr>
        <p:spPr>
          <a:xfrm>
            <a:off x="1188720" y="4754880"/>
            <a:ext cx="10058400" cy="731520"/>
          </a:xfrm>
          <a:prstGeom prst="rect">
            <a:avLst/>
          </a:prstGeom>
          <a:noFill/>
        </p:spPr>
        <p:txBody>
          <a:bodyPr wrap="square" anchor="t">
            <a:spAutoFit/>
          </a:bodyPr>
          <a:lstStyle/>
          <a:p>
            <a:r>
              <a:rPr sz="1500" b="0">
                <a:solidFill>
                  <a:srgbClr val="C5D3DE"/>
                </a:solidFill>
                <a:latin typeface="Segoe UI"/>
              </a:rPr>
              <a:t>Network Operations &amp; Predictive Intelligence - without ever doing the analytics stack's job.</a:t>
            </a:r>
          </a:p>
        </p:txBody>
      </p:sp>
      <p:sp>
        <p:nvSpPr>
          <p:cNvPr id="6" name="TextBox 5"/>
          <p:cNvSpPr txBox="1"/>
          <p:nvPr/>
        </p:nvSpPr>
        <p:spPr>
          <a:xfrm>
            <a:off x="1188720" y="5669280"/>
            <a:ext cx="10058400" cy="548640"/>
          </a:xfrm>
          <a:prstGeom prst="rect">
            <a:avLst/>
          </a:prstGeom>
          <a:noFill/>
        </p:spPr>
        <p:txBody>
          <a:bodyPr wrap="square" anchor="t">
            <a:spAutoFit/>
          </a:bodyPr>
          <a:lstStyle/>
          <a:p>
            <a:r>
              <a:rPr sz="1300" b="1">
                <a:solidFill>
                  <a:srgbClr val="DD7A2E"/>
                </a:solidFill>
                <a:latin typeface="Segoe U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